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2E45"/>
            </a:gs>
            <a:gs pos="100000">
              <a:srgbClr val="071B29"/>
            </a:gs>
          </a:gsLst>
          <a:lin ang="6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img"/>
          <p:cNvPicPr/>
          <p:nvPr/>
        </p:nvPicPr>
        <p:blipFill>
          <a:blip r:embed="rId2"/>
          <a:srcRect t="3043" b="3043"/>
          <a:stretch>
            <a:fillRect/>
          </a:stretch>
        </p:blipFill>
        <p:spPr>
          <a:xfrm>
            <a:off x="6350000" y="0"/>
            <a:ext cx="5842000" cy="6858000"/>
          </a:xfrm>
          <a:prstGeom prst="rect">
            <a:avLst/>
          </a:prstGeom>
          <a:ln>
            <a:noFill/>
          </a:ln>
        </p:spPr>
      </p:pic>
      <p:sp>
        <p:nvSpPr>
          <p:cNvPr id="3" name="cover-overlay"/>
          <p:cNvSpPr/>
          <p:nvPr/>
        </p:nvSpPr>
        <p:spPr>
          <a:xfrm>
            <a:off x="6350000" y="0"/>
            <a:ext cx="5842000" cy="6858000"/>
          </a:xfrm>
          <a:prstGeom prst="rect">
            <a:avLst/>
          </a:prstGeom>
          <a:gradFill rotWithShape="1">
            <a:gsLst>
              <a:gs pos="0">
                <a:srgbClr val="0A2E45">
                  <a:alpha val="94902"/>
                </a:srgbClr>
              </a:gs>
              <a:gs pos="45000">
                <a:srgbClr val="0A2E45">
                  <a:alpha val="40000"/>
                </a:srgbClr>
              </a:gs>
              <a:gs pos="100000">
                <a:srgbClr val="0A2E45">
                  <a:alpha val="0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cover-kicker"/>
          <p:cNvSpPr txBox="1"/>
          <p:nvPr/>
        </p:nvSpPr>
        <p:spPr>
          <a:xfrm>
            <a:off x="812800" y="1168400"/>
            <a:ext cx="533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8FD6DA"/>
                </a:solidFill>
                <a:latin typeface="Times New Roman"/>
                <a:ea typeface="Times New Roman"/>
              </a:rPr>
              <a:t>TOSHKENT DAVLAT TIBBIYOT INSTITUTI</a:t>
            </a:r>
            <a:endParaRPr lang="en-US" sz="1200" noProof="1"/>
          </a:p>
        </p:txBody>
      </p:sp>
      <p:sp>
        <p:nvSpPr>
          <p:cNvPr id="5" name="cover-title"/>
          <p:cNvSpPr txBox="1"/>
          <p:nvPr/>
        </p:nvSpPr>
        <p:spPr>
          <a:xfrm>
            <a:off x="812800" y="1574800"/>
            <a:ext cx="54610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5000"/>
              </a:lnSpc>
            </a:pPr>
            <a:r>
              <a:rPr lang="en-US" sz="4000" b="1" noProof="1">
                <a:solidFill>
                  <a:srgbClr val="FFFFFF"/>
                </a:solidFill>
                <a:latin typeface="Times New Roman"/>
                <a:ea typeface="Times New Roman"/>
              </a:rPr>
              <a:t>Tish tuzilishi: pulpa va periodont</a:t>
            </a:r>
            <a:endParaRPr lang="en-US" sz="4000" noProof="1"/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lang="uz-Latn-UZ" sz="2000" b="1" i="1" noProof="1">
                <a:solidFill>
                  <a:srgbClr val="8FD6DA"/>
                </a:solidFill>
                <a:latin typeface="Times New Roman"/>
                <a:ea typeface="Times New Roman"/>
              </a:rPr>
              <a:t>G</a:t>
            </a:r>
            <a:r>
              <a:rPr lang="en-US" sz="2000" b="1" i="1" noProof="1" smtClean="0">
                <a:solidFill>
                  <a:srgbClr val="8FD6DA"/>
                </a:solidFill>
                <a:latin typeface="Times New Roman"/>
                <a:ea typeface="Times New Roman"/>
              </a:rPr>
              <a:t>istologiya</a:t>
            </a:r>
            <a:endParaRPr lang="en-US" sz="4000" noProof="1"/>
          </a:p>
        </p:txBody>
      </p:sp>
      <p:sp>
        <p:nvSpPr>
          <p:cNvPr id="6" name="cover-rule"/>
          <p:cNvSpPr/>
          <p:nvPr/>
        </p:nvSpPr>
        <p:spPr>
          <a:xfrm>
            <a:off x="812800" y="37084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7" name="cover-info"/>
          <p:cNvSpPr txBox="1"/>
          <p:nvPr/>
        </p:nvSpPr>
        <p:spPr>
          <a:xfrm>
            <a:off x="812800" y="4089400"/>
            <a:ext cx="5334000" cy="25295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8FD6DA"/>
                </a:solidFill>
                <a:latin typeface="Times New Roman"/>
                <a:ea typeface="Times New Roman"/>
              </a:rPr>
              <a:t>FAKULTET</a:t>
            </a:r>
            <a:endParaRPr lang="en-US" sz="1600" noProof="1"/>
          </a:p>
          <a:p>
            <a:pPr>
              <a:lnSpc>
                <a:spcPct val="140000"/>
              </a:lnSpc>
            </a:pPr>
            <a:r>
              <a:rPr lang="en-US" sz="1600" noProof="1">
                <a:solidFill>
                  <a:srgbClr val="E8F1F5"/>
                </a:solidFill>
                <a:latin typeface="Times New Roman"/>
                <a:ea typeface="Times New Roman"/>
              </a:rPr>
              <a:t>Davolash ishi</a:t>
            </a:r>
            <a:endParaRPr lang="en-US" sz="1600" noProof="1"/>
          </a:p>
          <a:p>
            <a:pPr>
              <a:lnSpc>
                <a:spcPct val="140000"/>
              </a:lnSpc>
              <a:spcBef>
                <a:spcPts val="1400"/>
              </a:spcBef>
            </a:pPr>
            <a:r>
              <a:rPr lang="en-US" sz="1200" noProof="1">
                <a:solidFill>
                  <a:srgbClr val="8FD6DA"/>
                </a:solidFill>
                <a:latin typeface="Times New Roman"/>
                <a:ea typeface="Times New Roman"/>
              </a:rPr>
              <a:t>GURUH</a:t>
            </a:r>
            <a:endParaRPr lang="en-US" sz="1600" noProof="1"/>
          </a:p>
          <a:p>
            <a:pPr>
              <a:lnSpc>
                <a:spcPct val="140000"/>
              </a:lnSpc>
            </a:pPr>
            <a:r>
              <a:rPr lang="en-US" sz="1600" noProof="1">
                <a:solidFill>
                  <a:srgbClr val="E8F1F5"/>
                </a:solidFill>
                <a:latin typeface="Times New Roman"/>
                <a:ea typeface="Times New Roman"/>
              </a:rPr>
              <a:t>214/B guruh</a:t>
            </a:r>
            <a:endParaRPr lang="en-US" sz="1600" noProof="1"/>
          </a:p>
          <a:p>
            <a:pPr>
              <a:lnSpc>
                <a:spcPct val="140000"/>
              </a:lnSpc>
              <a:spcBef>
                <a:spcPts val="1400"/>
              </a:spcBef>
            </a:pPr>
            <a:r>
              <a:rPr lang="en-US" sz="1200" noProof="1" smtClean="0">
                <a:solidFill>
                  <a:srgbClr val="8FD6DA"/>
                </a:solidFill>
                <a:latin typeface="Times New Roman"/>
                <a:ea typeface="Times New Roman"/>
              </a:rPr>
              <a:t>BAJARDI</a:t>
            </a:r>
            <a:r>
              <a:rPr lang="uz-Latn-UZ" sz="1200" noProof="1">
                <a:solidFill>
                  <a:srgbClr val="8FD6DA"/>
                </a:solidFill>
                <a:latin typeface="Times New Roman"/>
                <a:ea typeface="Times New Roman"/>
              </a:rPr>
              <a:t>	</a:t>
            </a:r>
            <a:endParaRPr lang="uz-Latn-UZ" sz="1200" noProof="1" smtClean="0">
              <a:solidFill>
                <a:srgbClr val="8FD6DA"/>
              </a:solidFill>
              <a:latin typeface="Times New Roman"/>
              <a:ea typeface="Times New Roman"/>
            </a:endParaRPr>
          </a:p>
          <a:p>
            <a:pPr>
              <a:lnSpc>
                <a:spcPct val="140000"/>
              </a:lnSpc>
              <a:spcBef>
                <a:spcPts val="1400"/>
              </a:spcBef>
            </a:pPr>
            <a:r>
              <a:rPr lang="en-US" noProof="1" smtClean="0">
                <a:solidFill>
                  <a:srgbClr val="E8F1F5"/>
                </a:solidFill>
                <a:latin typeface="Times New Roman"/>
                <a:ea typeface="Times New Roman"/>
              </a:rPr>
              <a:t>Karimova Munisa</a:t>
            </a:r>
            <a:r>
              <a:rPr lang="uz-Latn-UZ" noProof="1" smtClean="0">
                <a:solidFill>
                  <a:srgbClr val="E8F1F5"/>
                </a:solidFill>
                <a:latin typeface="Times New Roman"/>
                <a:ea typeface="Times New Roman"/>
              </a:rPr>
              <a:t> va Mardonov Shohrux</a:t>
            </a:r>
            <a:r>
              <a:rPr lang="uz-Latn-UZ" sz="1600" noProof="1" smtClean="0">
                <a:solidFill>
                  <a:srgbClr val="E8F1F5"/>
                </a:solidFill>
                <a:latin typeface="Times New Roman"/>
                <a:ea typeface="Times New Roman"/>
              </a:rPr>
              <a:t/>
            </a:r>
            <a:br>
              <a:rPr lang="uz-Latn-UZ" sz="1600" noProof="1" smtClean="0">
                <a:solidFill>
                  <a:srgbClr val="E8F1F5"/>
                </a:solidFill>
                <a:latin typeface="Times New Roman"/>
                <a:ea typeface="Times New Roman"/>
              </a:rPr>
            </a:br>
            <a:r>
              <a:rPr lang="uz-Latn-UZ" sz="1600" noProof="1" smtClean="0">
                <a:solidFill>
                  <a:srgbClr val="E8F1F5"/>
                </a:solidFill>
                <a:latin typeface="Times New Roman"/>
                <a:ea typeface="Times New Roman"/>
              </a:rPr>
              <a:t> </a:t>
            </a:r>
            <a:endParaRPr lang="en-US" sz="16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KIRISH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Tishning umumiy anatomiyasi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body"/>
          <p:cNvSpPr txBox="1"/>
          <p:nvPr/>
        </p:nvSpPr>
        <p:spPr>
          <a:xfrm>
            <a:off x="812800" y="1727200"/>
            <a:ext cx="6299200" cy="431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Tish anatomik jihatdan </a:t>
            </a: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uch qismdan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iborat: toj (korona), bo'yin (serviks) va ildiz (radiks).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1400"/>
              </a:spcBef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Qattiq to'qimalar: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4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Emal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tish tojini qoplovchi eng qattiq to'qima;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4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Dentin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tishning asosiy massasini tashkil etadi;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4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Sement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ildiz sirtini qoplaydi.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1400"/>
              </a:spcBef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Yumshoq to'qimalar: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4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Pulpa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tish bo'shlig'idagi hayotiy to'qima;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4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Periodont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tishni alveolada ushlab turuvchi to'qimalar.</a:t>
            </a:r>
            <a:endParaRPr lang="en-US" sz="1600" noProof="1"/>
          </a:p>
        </p:txBody>
      </p:sp>
      <p:pic>
        <p:nvPicPr>
          <p:cNvPr id="6" name="img"/>
          <p:cNvPicPr/>
          <p:nvPr/>
        </p:nvPicPr>
        <p:blipFill>
          <a:blip r:embed="rId2"/>
          <a:srcRect t="-22090" b="-22090"/>
          <a:stretch>
            <a:fillRect/>
          </a:stretch>
        </p:blipFill>
        <p:spPr>
          <a:xfrm>
            <a:off x="7569200" y="1625600"/>
            <a:ext cx="4013200" cy="4318000"/>
          </a:xfrm>
          <a:prstGeom prst="roundRect">
            <a:avLst>
              <a:gd name="adj" fmla="val 4000"/>
            </a:avLst>
          </a:prstGeom>
          <a:ln>
            <a:noFill/>
          </a:ln>
        </p:spPr>
      </p:pic>
      <p:sp>
        <p:nvSpPr>
          <p:cNvPr id="7" name="img-border"/>
          <p:cNvSpPr/>
          <p:nvPr/>
        </p:nvSpPr>
        <p:spPr>
          <a:xfrm>
            <a:off x="7569200" y="1625600"/>
            <a:ext cx="4013200" cy="43180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9E3E8"/>
            </a:solidFill>
          </a:ln>
        </p:spPr>
      </p:sp>
      <p:sp>
        <p:nvSpPr>
          <p:cNvPr id="8" name="img-caption"/>
          <p:cNvSpPr txBox="1"/>
          <p:nvPr/>
        </p:nvSpPr>
        <p:spPr>
          <a:xfrm>
            <a:off x="7569200" y="6045200"/>
            <a:ext cx="4013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i="1" noProof="1">
                <a:solidFill>
                  <a:srgbClr val="64747F"/>
                </a:solidFill>
                <a:latin typeface="Times New Roman"/>
                <a:ea typeface="Times New Roman"/>
              </a:rPr>
              <a:t>Tishning makroanatomik kesimi</a:t>
            </a:r>
            <a:endParaRPr lang="en-US" sz="1200" noProof="1"/>
          </a:p>
        </p:txBody>
      </p:sp>
      <p:sp>
        <p:nvSpPr>
          <p:cNvPr id="9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02 / 15</a:t>
            </a:r>
            <a:endParaRPr lang="en-US" sz="11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PULPA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Pulpa haqida umumiy tushuncha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body"/>
          <p:cNvSpPr txBox="1"/>
          <p:nvPr/>
        </p:nvSpPr>
        <p:spPr>
          <a:xfrm>
            <a:off x="812800" y="1727200"/>
            <a:ext cx="6299200" cy="431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Pulpa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tish bo'shlig'ini (cavitas dentis) to'ldiruvchi, tomir va nervlarga boy yumshoq biriktiruvchi to'qima.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12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Koronal pulpa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tish tojidagi pulpa kamerasini to'ldiradi;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8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Radikulyar pulpa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ildiz kanallari ichida joylashadi;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8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Apikal teshik (foramen apicale)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ildiz uchidagi teshik bo'lib, tomir va nervlar shu orqali o'tadi;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800"/>
              </a:spcBef>
              <a:buChar char="•"/>
            </a:pP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Pulpa apikal teshik orqali periodont to'qimalari bilan bog'lanadi.</a:t>
            </a:r>
            <a:endParaRPr lang="en-US" sz="1600" noProof="1"/>
          </a:p>
        </p:txBody>
      </p:sp>
      <p:pic>
        <p:nvPicPr>
          <p:cNvPr id="6" name="img"/>
          <p:cNvPicPr/>
          <p:nvPr/>
        </p:nvPicPr>
        <p:blipFill>
          <a:blip r:embed="rId2"/>
          <a:srcRect t="-21730" b="-21730"/>
          <a:stretch>
            <a:fillRect/>
          </a:stretch>
        </p:blipFill>
        <p:spPr>
          <a:xfrm>
            <a:off x="7569200" y="1625600"/>
            <a:ext cx="4013200" cy="4318000"/>
          </a:xfrm>
          <a:prstGeom prst="roundRect">
            <a:avLst>
              <a:gd name="adj" fmla="val 4000"/>
            </a:avLst>
          </a:prstGeom>
          <a:ln>
            <a:noFill/>
          </a:ln>
        </p:spPr>
      </p:pic>
      <p:sp>
        <p:nvSpPr>
          <p:cNvPr id="7" name="img-border"/>
          <p:cNvSpPr/>
          <p:nvPr/>
        </p:nvSpPr>
        <p:spPr>
          <a:xfrm>
            <a:off x="7569200" y="1625600"/>
            <a:ext cx="4013200" cy="43180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9E3E8"/>
            </a:solidFill>
          </a:ln>
        </p:spPr>
      </p:sp>
      <p:sp>
        <p:nvSpPr>
          <p:cNvPr id="8" name="img-caption"/>
          <p:cNvSpPr txBox="1"/>
          <p:nvPr/>
        </p:nvSpPr>
        <p:spPr>
          <a:xfrm>
            <a:off x="7569200" y="6045200"/>
            <a:ext cx="4013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i="1" noProof="1">
                <a:solidFill>
                  <a:srgbClr val="64747F"/>
                </a:solidFill>
                <a:latin typeface="Times New Roman"/>
                <a:ea typeface="Times New Roman"/>
              </a:rPr>
              <a:t>Pulpa kamerasi, ildiz kanallari va apikal teshik</a:t>
            </a:r>
            <a:endParaRPr lang="en-US" sz="1200" noProof="1"/>
          </a:p>
        </p:txBody>
      </p:sp>
      <p:sp>
        <p:nvSpPr>
          <p:cNvPr id="9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03 / 15</a:t>
            </a:r>
            <a:endParaRPr lang="en-US" sz="1100" noProof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PULPA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Pulpaning gistologik tuzilishi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body"/>
          <p:cNvSpPr txBox="1"/>
          <p:nvPr/>
        </p:nvSpPr>
        <p:spPr>
          <a:xfrm>
            <a:off x="812800" y="1727200"/>
            <a:ext cx="6299200" cy="431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Periferiyadan markazga qarab pulpa </a:t>
            </a: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to'rt zonaga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ajratiladi: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1200"/>
              </a:spcBef>
              <a:buAutoNum type="arabicPeriod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Odontoblastlar qatlami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dentinga tutash eng tashqi qatlam;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1000"/>
              </a:spcBef>
              <a:buAutoNum type="arabicPeriod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Veylning hujayrasiz zonasi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hujayralardan xoli, tolalarga boy qatlam;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1000"/>
              </a:spcBef>
              <a:buAutoNum type="arabicPeriod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Hujayralarga boy zona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fibroblastlar va kapillyarlar jamlangan qatlam;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1000"/>
              </a:spcBef>
              <a:buAutoNum type="arabicPeriod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Pulpa yadrosi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yirik tomir va nervlar o'tadigan markaziy qism.</a:t>
            </a:r>
            <a:endParaRPr lang="en-US" sz="1600" noProof="1"/>
          </a:p>
        </p:txBody>
      </p:sp>
      <p:pic>
        <p:nvPicPr>
          <p:cNvPr id="6" name="img"/>
          <p:cNvPicPr/>
          <p:nvPr/>
        </p:nvPicPr>
        <p:blipFill>
          <a:blip r:embed="rId2"/>
          <a:srcRect t="-7461" b="-7461"/>
          <a:stretch>
            <a:fillRect/>
          </a:stretch>
        </p:blipFill>
        <p:spPr>
          <a:xfrm>
            <a:off x="7569200" y="1625600"/>
            <a:ext cx="4013200" cy="4318000"/>
          </a:xfrm>
          <a:prstGeom prst="roundRect">
            <a:avLst>
              <a:gd name="adj" fmla="val 4000"/>
            </a:avLst>
          </a:prstGeom>
          <a:ln>
            <a:noFill/>
          </a:ln>
        </p:spPr>
      </p:pic>
      <p:sp>
        <p:nvSpPr>
          <p:cNvPr id="7" name="img-border"/>
          <p:cNvSpPr/>
          <p:nvPr/>
        </p:nvSpPr>
        <p:spPr>
          <a:xfrm>
            <a:off x="7569200" y="1625600"/>
            <a:ext cx="4013200" cy="43180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9E3E8"/>
            </a:solidFill>
          </a:ln>
        </p:spPr>
      </p:sp>
      <p:sp>
        <p:nvSpPr>
          <p:cNvPr id="8" name="img-caption"/>
          <p:cNvSpPr txBox="1"/>
          <p:nvPr/>
        </p:nvSpPr>
        <p:spPr>
          <a:xfrm>
            <a:off x="7569200" y="6045200"/>
            <a:ext cx="4013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i="1" noProof="1">
                <a:solidFill>
                  <a:srgbClr val="64747F"/>
                </a:solidFill>
                <a:latin typeface="Times New Roman"/>
                <a:ea typeface="Times New Roman"/>
              </a:rPr>
              <a:t>Pulpaning to'rt gistologik zonasi</a:t>
            </a:r>
            <a:endParaRPr lang="en-US" sz="1200" noProof="1"/>
          </a:p>
        </p:txBody>
      </p:sp>
      <p:sp>
        <p:nvSpPr>
          <p:cNvPr id="9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04 / 15</a:t>
            </a:r>
            <a:endParaRPr lang="en-US" sz="110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PULPA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Pulpaning hujayralari va tolalari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body"/>
          <p:cNvSpPr txBox="1"/>
          <p:nvPr/>
        </p:nvSpPr>
        <p:spPr>
          <a:xfrm>
            <a:off x="812800" y="1727200"/>
            <a:ext cx="6299200" cy="431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Asosiy hujayralar: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10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Odontoblastlar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dentin hosil qiladi; o'tindisi dentin naychasiga kiradi;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8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Fibroblastlar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eng ko'p uchraydigan hujayra, kollagen sintez qiladi;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8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Differensialanmagan mezenximal hujayralar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zaxira hujayralar;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8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Immun hujayralar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makrofaglar, dendrit hujayralar, limfotsitlar.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1400"/>
              </a:spcBef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Ekstratsellyulyar matritsa: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I va III tip kollagen tolalar hamda glikozaminoglikanlardan tashkil topgan.</a:t>
            </a:r>
            <a:endParaRPr lang="en-US" sz="1600" noProof="1"/>
          </a:p>
        </p:txBody>
      </p:sp>
      <p:pic>
        <p:nvPicPr>
          <p:cNvPr id="6" name="img"/>
          <p:cNvPicPr/>
          <p:nvPr/>
        </p:nvPicPr>
        <p:blipFill>
          <a:blip r:embed="rId2"/>
          <a:srcRect t="-68250" b="-68250"/>
          <a:stretch>
            <a:fillRect/>
          </a:stretch>
        </p:blipFill>
        <p:spPr>
          <a:xfrm>
            <a:off x="7569200" y="1625600"/>
            <a:ext cx="4013200" cy="4318000"/>
          </a:xfrm>
          <a:prstGeom prst="roundRect">
            <a:avLst>
              <a:gd name="adj" fmla="val 4000"/>
            </a:avLst>
          </a:prstGeom>
          <a:ln>
            <a:noFill/>
          </a:ln>
        </p:spPr>
      </p:pic>
      <p:sp>
        <p:nvSpPr>
          <p:cNvPr id="7" name="img-border"/>
          <p:cNvSpPr/>
          <p:nvPr/>
        </p:nvSpPr>
        <p:spPr>
          <a:xfrm>
            <a:off x="7569200" y="1625600"/>
            <a:ext cx="4013200" cy="43180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9E3E8"/>
            </a:solidFill>
          </a:ln>
        </p:spPr>
      </p:sp>
      <p:sp>
        <p:nvSpPr>
          <p:cNvPr id="8" name="img-caption"/>
          <p:cNvSpPr txBox="1"/>
          <p:nvPr/>
        </p:nvSpPr>
        <p:spPr>
          <a:xfrm>
            <a:off x="7569200" y="6045200"/>
            <a:ext cx="4013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i="1" noProof="1">
                <a:solidFill>
                  <a:srgbClr val="64747F"/>
                </a:solidFill>
                <a:latin typeface="Times New Roman"/>
                <a:ea typeface="Times New Roman"/>
              </a:rPr>
              <a:t>Odontoblast va uning dentin naychasidagi o'tindisi</a:t>
            </a:r>
            <a:endParaRPr lang="en-US" sz="1200" noProof="1"/>
          </a:p>
        </p:txBody>
      </p:sp>
      <p:sp>
        <p:nvSpPr>
          <p:cNvPr id="9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05 / 15</a:t>
            </a:r>
            <a:endParaRPr lang="en-US" sz="1100" noProof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PULPA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Pulpaning qon ta'minoti va innervatsiyasi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body"/>
          <p:cNvSpPr txBox="1"/>
          <p:nvPr/>
        </p:nvSpPr>
        <p:spPr>
          <a:xfrm>
            <a:off x="812800" y="1727200"/>
            <a:ext cx="6299200" cy="431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Qon ta'minoti: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arteriolar apikal teshikdan kirib, pulpada boy kapillyar tarmoq (pleksus) hosil qiladi; venulalar apikal teshik orqali chiqadi.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1400"/>
              </a:spcBef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Innervatsiya: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tish nervi tarmoqlari pulpa bo'ylab Raschkow to'rini tashkil etadi.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12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A-delta tolalar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(miyelinli) — o'tkir, qisqa va aniq lokalizatsiyali og'riqni uzatadi;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8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C tolalar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(miyelinsiz) — sust, tarqaluvchan va uzoq davom etuvchi og'riqni uzatadi.</a:t>
            </a:r>
            <a:endParaRPr lang="en-US" sz="1600" noProof="1"/>
          </a:p>
        </p:txBody>
      </p:sp>
      <p:pic>
        <p:nvPicPr>
          <p:cNvPr id="6" name="img"/>
          <p:cNvPicPr/>
          <p:nvPr/>
        </p:nvPicPr>
        <p:blipFill>
          <a:blip r:embed="rId2"/>
          <a:srcRect t="-13005" b="-13005"/>
          <a:stretch>
            <a:fillRect/>
          </a:stretch>
        </p:blipFill>
        <p:spPr>
          <a:xfrm>
            <a:off x="7569200" y="1625600"/>
            <a:ext cx="4013200" cy="4318000"/>
          </a:xfrm>
          <a:prstGeom prst="roundRect">
            <a:avLst>
              <a:gd name="adj" fmla="val 4000"/>
            </a:avLst>
          </a:prstGeom>
          <a:ln>
            <a:noFill/>
          </a:ln>
        </p:spPr>
      </p:pic>
      <p:sp>
        <p:nvSpPr>
          <p:cNvPr id="7" name="img-border"/>
          <p:cNvSpPr/>
          <p:nvPr/>
        </p:nvSpPr>
        <p:spPr>
          <a:xfrm>
            <a:off x="7569200" y="1625600"/>
            <a:ext cx="4013200" cy="43180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9E3E8"/>
            </a:solidFill>
          </a:ln>
        </p:spPr>
      </p:sp>
      <p:sp>
        <p:nvSpPr>
          <p:cNvPr id="8" name="img-caption"/>
          <p:cNvSpPr txBox="1"/>
          <p:nvPr/>
        </p:nvSpPr>
        <p:spPr>
          <a:xfrm>
            <a:off x="7569200" y="6045200"/>
            <a:ext cx="4013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i="1" noProof="1">
                <a:solidFill>
                  <a:srgbClr val="64747F"/>
                </a:solidFill>
                <a:latin typeface="Times New Roman"/>
                <a:ea typeface="Times New Roman"/>
              </a:rPr>
              <a:t>Pulpadagi tomir va nerv tarmoqlari</a:t>
            </a:r>
            <a:endParaRPr lang="en-US" sz="1200" noProof="1"/>
          </a:p>
        </p:txBody>
      </p:sp>
      <p:sp>
        <p:nvSpPr>
          <p:cNvPr id="9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06 / 15</a:t>
            </a:r>
            <a:endParaRPr lang="en-US" sz="1100" noProof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PULPA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Pulpaning asosiy funksiyalari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f1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eyJpY29uTmFtZSI6ImZhczp0b290aCJ9</pptd:icon>
              </p:ext>
            </p:extLst>
          </p:nvPr>
        </p:nvSpPr>
        <p:spPr>
          <a:xfrm>
            <a:off x="8128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145" y="6"/>
                </a:moveTo>
                <a:lnTo>
                  <a:pt x="224" y="32"/>
                </a:lnTo>
                <a:lnTo>
                  <a:pt x="303" y="6"/>
                </a:lnTo>
                <a:cubicBezTo>
                  <a:pt x="314" y="2"/>
                  <a:pt x="326" y="0"/>
                  <a:pt x="338" y="0"/>
                </a:cubicBezTo>
                <a:cubicBezTo>
                  <a:pt x="399" y="0"/>
                  <a:pt x="448" y="49"/>
                  <a:pt x="448" y="110"/>
                </a:cubicBezTo>
                <a:lnTo>
                  <a:pt x="448" y="179"/>
                </a:lnTo>
                <a:cubicBezTo>
                  <a:pt x="448" y="208"/>
                  <a:pt x="439" y="237"/>
                  <a:pt x="421" y="260"/>
                </a:cubicBezTo>
                <a:lnTo>
                  <a:pt x="420" y="262"/>
                </a:lnTo>
                <a:cubicBezTo>
                  <a:pt x="407" y="279"/>
                  <a:pt x="398" y="299"/>
                  <a:pt x="395" y="320"/>
                </a:cubicBezTo>
                <a:lnTo>
                  <a:pt x="374" y="472"/>
                </a:lnTo>
                <a:cubicBezTo>
                  <a:pt x="370" y="495"/>
                  <a:pt x="351" y="512"/>
                  <a:pt x="328" y="512"/>
                </a:cubicBezTo>
                <a:cubicBezTo>
                  <a:pt x="305" y="512"/>
                  <a:pt x="285" y="496"/>
                  <a:pt x="282" y="473"/>
                </a:cubicBezTo>
                <a:lnTo>
                  <a:pt x="261" y="352"/>
                </a:lnTo>
                <a:cubicBezTo>
                  <a:pt x="258" y="333"/>
                  <a:pt x="243" y="320"/>
                  <a:pt x="224" y="320"/>
                </a:cubicBezTo>
                <a:cubicBezTo>
                  <a:pt x="206" y="320"/>
                  <a:pt x="190" y="333"/>
                  <a:pt x="187" y="352"/>
                </a:cubicBezTo>
                <a:lnTo>
                  <a:pt x="167" y="473"/>
                </a:lnTo>
                <a:cubicBezTo>
                  <a:pt x="163" y="496"/>
                  <a:pt x="143" y="512"/>
                  <a:pt x="121" y="512"/>
                </a:cubicBezTo>
                <a:cubicBezTo>
                  <a:pt x="97" y="512"/>
                  <a:pt x="78" y="495"/>
                  <a:pt x="74" y="472"/>
                </a:cubicBezTo>
                <a:lnTo>
                  <a:pt x="53" y="321"/>
                </a:lnTo>
                <a:cubicBezTo>
                  <a:pt x="50" y="299"/>
                  <a:pt x="41" y="279"/>
                  <a:pt x="28" y="262"/>
                </a:cubicBezTo>
                <a:lnTo>
                  <a:pt x="27" y="260"/>
                </a:lnTo>
                <a:cubicBezTo>
                  <a:pt x="10" y="237"/>
                  <a:pt x="0" y="208"/>
                  <a:pt x="0" y="179"/>
                </a:cubicBezTo>
                <a:lnTo>
                  <a:pt x="0" y="110"/>
                </a:lnTo>
                <a:cubicBezTo>
                  <a:pt x="0" y="49"/>
                  <a:pt x="49" y="0"/>
                  <a:pt x="110" y="0"/>
                </a:cubicBezTo>
                <a:cubicBezTo>
                  <a:pt x="122" y="0"/>
                  <a:pt x="134" y="2"/>
                  <a:pt x="145" y="6"/>
                </a:cubicBezTo>
                <a:close/>
              </a:path>
            </a:pathLst>
          </a:custGeom>
          <a:solidFill>
            <a:srgbClr val="159AA0"/>
          </a:solidFill>
          <a:ln>
            <a:noFill/>
          </a:ln>
        </p:spPr>
      </p:sp>
      <p:sp>
        <p:nvSpPr>
          <p:cNvPr id="6" name="f1-head"/>
          <p:cNvSpPr txBox="1"/>
          <p:nvPr/>
        </p:nvSpPr>
        <p:spPr>
          <a:xfrm>
            <a:off x="1422400" y="1752600"/>
            <a:ext cx="508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0B3552"/>
                </a:solidFill>
                <a:latin typeface="Times New Roman"/>
                <a:ea typeface="Times New Roman"/>
              </a:rPr>
              <a:t>Formativ (hosil qiluvchi)</a:t>
            </a:r>
            <a:endParaRPr lang="en-US" sz="1800" noProof="1"/>
          </a:p>
        </p:txBody>
      </p:sp>
      <p:sp>
        <p:nvSpPr>
          <p:cNvPr id="7" name="f1-desc"/>
          <p:cNvSpPr txBox="1"/>
          <p:nvPr/>
        </p:nvSpPr>
        <p:spPr>
          <a:xfrm>
            <a:off x="1422400" y="2108200"/>
            <a:ext cx="995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Odontoblastlar birlamchi, ikkilamchi va uchlamchi (reparativ) dentin ishlab chiqaradi.</a:t>
            </a:r>
            <a:endParaRPr lang="en-US" sz="1500" noProof="1"/>
          </a:p>
        </p:txBody>
      </p:sp>
      <p:sp>
        <p:nvSpPr>
          <p:cNvPr id="8" name="f1-line"/>
          <p:cNvSpPr/>
          <p:nvPr/>
        </p:nvSpPr>
        <p:spPr>
          <a:xfrm>
            <a:off x="812800" y="2870200"/>
            <a:ext cx="10566400" cy="12700"/>
          </a:xfrm>
          <a:prstGeom prst="rect">
            <a:avLst/>
          </a:prstGeom>
          <a:solidFill>
            <a:srgbClr val="D9E3E8"/>
          </a:solidFill>
          <a:ln>
            <a:noFill/>
          </a:ln>
        </p:spPr>
      </p:sp>
      <p:sp>
        <p:nvSpPr>
          <p:cNvPr id="9" name="f2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eyJpY29uTmFtZSI6ImZhczpkcm9wbGV0In0</pptd:icon>
              </p:ext>
            </p:extLst>
          </p:nvPr>
        </p:nvSpPr>
        <p:spPr>
          <a:xfrm>
            <a:off x="812800" y="31242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84" h="512">
                <a:moveTo>
                  <a:pt x="192" y="512"/>
                </a:moveTo>
                <a:cubicBezTo>
                  <a:pt x="86" y="512"/>
                  <a:pt x="0" y="426"/>
                  <a:pt x="0" y="320"/>
                </a:cubicBezTo>
                <a:cubicBezTo>
                  <a:pt x="0" y="229"/>
                  <a:pt x="130" y="46"/>
                  <a:pt x="167" y="-3"/>
                </a:cubicBezTo>
                <a:cubicBezTo>
                  <a:pt x="173" y="-11"/>
                  <a:pt x="182" y="-16"/>
                  <a:pt x="192" y="-16"/>
                </a:cubicBezTo>
                <a:lnTo>
                  <a:pt x="192" y="-16"/>
                </a:lnTo>
                <a:cubicBezTo>
                  <a:pt x="202" y="-16"/>
                  <a:pt x="212" y="-11"/>
                  <a:pt x="217" y="-3"/>
                </a:cubicBezTo>
                <a:cubicBezTo>
                  <a:pt x="254" y="46"/>
                  <a:pt x="384" y="229"/>
                  <a:pt x="384" y="320"/>
                </a:cubicBezTo>
                <a:cubicBezTo>
                  <a:pt x="384" y="426"/>
                  <a:pt x="298" y="512"/>
                  <a:pt x="192" y="512"/>
                </a:cubicBezTo>
                <a:close/>
                <a:moveTo>
                  <a:pt x="112" y="312"/>
                </a:moveTo>
                <a:cubicBezTo>
                  <a:pt x="112" y="299"/>
                  <a:pt x="101" y="288"/>
                  <a:pt x="88" y="288"/>
                </a:cubicBezTo>
                <a:cubicBezTo>
                  <a:pt x="75" y="288"/>
                  <a:pt x="64" y="299"/>
                  <a:pt x="64" y="312"/>
                </a:cubicBezTo>
                <a:cubicBezTo>
                  <a:pt x="64" y="387"/>
                  <a:pt x="125" y="448"/>
                  <a:pt x="200" y="448"/>
                </a:cubicBezTo>
                <a:cubicBezTo>
                  <a:pt x="213" y="448"/>
                  <a:pt x="224" y="437"/>
                  <a:pt x="224" y="424"/>
                </a:cubicBezTo>
                <a:cubicBezTo>
                  <a:pt x="224" y="411"/>
                  <a:pt x="213" y="400"/>
                  <a:pt x="200" y="400"/>
                </a:cubicBezTo>
                <a:cubicBezTo>
                  <a:pt x="151" y="400"/>
                  <a:pt x="112" y="361"/>
                  <a:pt x="112" y="312"/>
                </a:cubicBezTo>
                <a:close/>
              </a:path>
            </a:pathLst>
          </a:custGeom>
          <a:solidFill>
            <a:srgbClr val="159AA0"/>
          </a:solidFill>
          <a:ln>
            <a:noFill/>
          </a:ln>
        </p:spPr>
      </p:sp>
      <p:sp>
        <p:nvSpPr>
          <p:cNvPr id="10" name="f2-head"/>
          <p:cNvSpPr txBox="1"/>
          <p:nvPr/>
        </p:nvSpPr>
        <p:spPr>
          <a:xfrm>
            <a:off x="1422400" y="3098800"/>
            <a:ext cx="508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0B3552"/>
                </a:solidFill>
                <a:latin typeface="Times New Roman"/>
                <a:ea typeface="Times New Roman"/>
              </a:rPr>
              <a:t>Nutritiv (ozuqaviy)</a:t>
            </a:r>
            <a:endParaRPr lang="en-US" sz="1800" noProof="1"/>
          </a:p>
        </p:txBody>
      </p:sp>
      <p:sp>
        <p:nvSpPr>
          <p:cNvPr id="11" name="f2-desc"/>
          <p:cNvSpPr txBox="1"/>
          <p:nvPr/>
        </p:nvSpPr>
        <p:spPr>
          <a:xfrm>
            <a:off x="1422400" y="3454400"/>
            <a:ext cx="995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Pulpa tomirlari dentinni namlik va oziq moddalar bilan ta'minlaydi.</a:t>
            </a:r>
            <a:endParaRPr lang="en-US" sz="1500" noProof="1"/>
          </a:p>
        </p:txBody>
      </p:sp>
      <p:sp>
        <p:nvSpPr>
          <p:cNvPr id="12" name="f2-line"/>
          <p:cNvSpPr/>
          <p:nvPr/>
        </p:nvSpPr>
        <p:spPr>
          <a:xfrm>
            <a:off x="812800" y="4216400"/>
            <a:ext cx="10566400" cy="12700"/>
          </a:xfrm>
          <a:prstGeom prst="rect">
            <a:avLst/>
          </a:prstGeom>
          <a:solidFill>
            <a:srgbClr val="D9E3E8"/>
          </a:solidFill>
          <a:ln>
            <a:noFill/>
          </a:ln>
        </p:spPr>
      </p:sp>
      <p:sp>
        <p:nvSpPr>
          <p:cNvPr id="13" name="f3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eyJpY29uTmFtZSI6ImZhczpib2x0In0</pptd:icon>
              </p:ext>
            </p:extLst>
          </p:nvPr>
        </p:nvSpPr>
        <p:spPr>
          <a:xfrm>
            <a:off x="812800" y="44704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339" y="-10"/>
                </a:moveTo>
                <a:cubicBezTo>
                  <a:pt x="351" y="-1"/>
                  <a:pt x="355" y="14"/>
                  <a:pt x="350" y="28"/>
                </a:cubicBezTo>
                <a:lnTo>
                  <a:pt x="271" y="224"/>
                </a:lnTo>
                <a:lnTo>
                  <a:pt x="416" y="224"/>
                </a:lnTo>
                <a:cubicBezTo>
                  <a:pt x="430" y="224"/>
                  <a:pt x="442" y="232"/>
                  <a:pt x="446" y="245"/>
                </a:cubicBezTo>
                <a:cubicBezTo>
                  <a:pt x="451" y="258"/>
                  <a:pt x="447" y="272"/>
                  <a:pt x="437" y="281"/>
                </a:cubicBezTo>
                <a:lnTo>
                  <a:pt x="149" y="521"/>
                </a:lnTo>
                <a:cubicBezTo>
                  <a:pt x="137" y="530"/>
                  <a:pt x="121" y="531"/>
                  <a:pt x="109" y="522"/>
                </a:cubicBezTo>
                <a:cubicBezTo>
                  <a:pt x="97" y="513"/>
                  <a:pt x="93" y="498"/>
                  <a:pt x="98" y="484"/>
                </a:cubicBezTo>
                <a:lnTo>
                  <a:pt x="177" y="288"/>
                </a:lnTo>
                <a:lnTo>
                  <a:pt x="32" y="288"/>
                </a:lnTo>
                <a:cubicBezTo>
                  <a:pt x="19" y="288"/>
                  <a:pt x="7" y="280"/>
                  <a:pt x="2" y="267"/>
                </a:cubicBezTo>
                <a:cubicBezTo>
                  <a:pt x="-3" y="254"/>
                  <a:pt x="1" y="240"/>
                  <a:pt x="11" y="231"/>
                </a:cubicBezTo>
                <a:lnTo>
                  <a:pt x="300" y="-9"/>
                </a:lnTo>
                <a:cubicBezTo>
                  <a:pt x="311" y="-18"/>
                  <a:pt x="327" y="-19"/>
                  <a:pt x="339" y="-10"/>
                </a:cubicBezTo>
                <a:close/>
              </a:path>
            </a:pathLst>
          </a:custGeom>
          <a:solidFill>
            <a:srgbClr val="159AA0"/>
          </a:solidFill>
          <a:ln>
            <a:noFill/>
          </a:ln>
        </p:spPr>
      </p:sp>
      <p:sp>
        <p:nvSpPr>
          <p:cNvPr id="14" name="f3-head"/>
          <p:cNvSpPr txBox="1"/>
          <p:nvPr/>
        </p:nvSpPr>
        <p:spPr>
          <a:xfrm>
            <a:off x="1422400" y="4445000"/>
            <a:ext cx="508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0B3552"/>
                </a:solidFill>
                <a:latin typeface="Times New Roman"/>
                <a:ea typeface="Times New Roman"/>
              </a:rPr>
              <a:t>Sensor (sezuvchan)</a:t>
            </a:r>
            <a:endParaRPr lang="en-US" sz="1800" noProof="1"/>
          </a:p>
        </p:txBody>
      </p:sp>
      <p:sp>
        <p:nvSpPr>
          <p:cNvPr id="15" name="f3-desc"/>
          <p:cNvSpPr txBox="1"/>
          <p:nvPr/>
        </p:nvSpPr>
        <p:spPr>
          <a:xfrm>
            <a:off x="1422400" y="4800600"/>
            <a:ext cx="995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Og'riq, harorat va mexanik ta'sirlarni qabul qilib, markaziy nerv tizimiga uzatadi.</a:t>
            </a:r>
            <a:endParaRPr lang="en-US" sz="1500" noProof="1"/>
          </a:p>
        </p:txBody>
      </p:sp>
      <p:sp>
        <p:nvSpPr>
          <p:cNvPr id="16" name="f3-line"/>
          <p:cNvSpPr/>
          <p:nvPr/>
        </p:nvSpPr>
        <p:spPr>
          <a:xfrm>
            <a:off x="812800" y="5562600"/>
            <a:ext cx="10566400" cy="12700"/>
          </a:xfrm>
          <a:prstGeom prst="rect">
            <a:avLst/>
          </a:prstGeom>
          <a:solidFill>
            <a:srgbClr val="D9E3E8"/>
          </a:solidFill>
          <a:ln>
            <a:noFill/>
          </a:ln>
        </p:spPr>
      </p:sp>
      <p:sp>
        <p:nvSpPr>
          <p:cNvPr id="17" name="f4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eyJpY29uTmFtZSI6ImZhczpzaGllbGQtaGFsdmVkIn0</pptd:icon>
              </p:ext>
            </p:extLst>
          </p:nvPr>
        </p:nvSpPr>
        <p:spPr>
          <a:xfrm>
            <a:off x="812800" y="5816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159AA0"/>
          </a:solidFill>
          <a:ln>
            <a:noFill/>
          </a:ln>
        </p:spPr>
      </p:sp>
      <p:sp>
        <p:nvSpPr>
          <p:cNvPr id="18" name="f4-head"/>
          <p:cNvSpPr txBox="1"/>
          <p:nvPr/>
        </p:nvSpPr>
        <p:spPr>
          <a:xfrm>
            <a:off x="1422400" y="5791200"/>
            <a:ext cx="508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0B3552"/>
                </a:solidFill>
                <a:latin typeface="Times New Roman"/>
                <a:ea typeface="Times New Roman"/>
              </a:rPr>
              <a:t>Himoya (defensiv)</a:t>
            </a:r>
            <a:endParaRPr lang="en-US" sz="1800" noProof="1"/>
          </a:p>
        </p:txBody>
      </p:sp>
      <p:sp>
        <p:nvSpPr>
          <p:cNvPr id="19" name="f4-desc"/>
          <p:cNvSpPr txBox="1"/>
          <p:nvPr/>
        </p:nvSpPr>
        <p:spPr>
          <a:xfrm>
            <a:off x="1422400" y="6146800"/>
            <a:ext cx="995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Zararlanishga immun javob beradi va reparativ dentin hosil qilish orqali pulpani himoya qiladi.</a:t>
            </a:r>
            <a:endParaRPr lang="en-US" sz="1500" noProof="1"/>
          </a:p>
        </p:txBody>
      </p:sp>
      <p:sp>
        <p:nvSpPr>
          <p:cNvPr id="20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07 / 15</a:t>
            </a:r>
            <a:endParaRPr lang="en-US" sz="1100" noProof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PERIODONT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Periodont haqida umumiy tushuncha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body"/>
          <p:cNvSpPr txBox="1"/>
          <p:nvPr/>
        </p:nvSpPr>
        <p:spPr>
          <a:xfrm>
            <a:off x="812800" y="1727200"/>
            <a:ext cx="6299200" cy="431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Periodont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tishni atrofdan o'rab turuvchi va uni alveolada mahkamlab turuvchi maxsus to'qimalar majmuidir.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1400"/>
              </a:spcBef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To'rt asosiy komponent: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1000"/>
              </a:spcBef>
              <a:buAutoNum type="arabicPeriod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Mulk (gingiva)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alveolyar o'siq va tish bo'ynini qoplaydi;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800"/>
              </a:spcBef>
              <a:buAutoNum type="arabicPeriod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Periodontal boylam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sementni suyak bilan bog'laydi;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800"/>
              </a:spcBef>
              <a:buAutoNum type="arabicPeriod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Tish sementi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ildiz sirtini qoplovchi qattiq to'qima;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800"/>
              </a:spcBef>
              <a:buAutoNum type="arabicPeriod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Alveolyar suyak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ildiz uchun chuqurchoq (alveola) hosil qiladi.</a:t>
            </a:r>
            <a:endParaRPr lang="en-US" sz="1600" noProof="1"/>
          </a:p>
        </p:txBody>
      </p:sp>
      <p:pic>
        <p:nvPicPr>
          <p:cNvPr id="6" name="img"/>
          <p:cNvPicPr/>
          <p:nvPr/>
        </p:nvPicPr>
        <p:blipFill>
          <a:blip r:embed="rId2"/>
          <a:srcRect t="10577" b="10577"/>
          <a:stretch>
            <a:fillRect/>
          </a:stretch>
        </p:blipFill>
        <p:spPr>
          <a:xfrm>
            <a:off x="7569200" y="1625600"/>
            <a:ext cx="4013200" cy="4318000"/>
          </a:xfrm>
          <a:prstGeom prst="roundRect">
            <a:avLst>
              <a:gd name="adj" fmla="val 4000"/>
            </a:avLst>
          </a:prstGeom>
          <a:ln>
            <a:noFill/>
          </a:ln>
        </p:spPr>
      </p:pic>
      <p:sp>
        <p:nvSpPr>
          <p:cNvPr id="7" name="img-border"/>
          <p:cNvSpPr/>
          <p:nvPr/>
        </p:nvSpPr>
        <p:spPr>
          <a:xfrm>
            <a:off x="7569200" y="1625600"/>
            <a:ext cx="4013200" cy="43180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9E3E8"/>
            </a:solidFill>
          </a:ln>
        </p:spPr>
      </p:sp>
      <p:sp>
        <p:nvSpPr>
          <p:cNvPr id="8" name="img-caption"/>
          <p:cNvSpPr txBox="1"/>
          <p:nvPr/>
        </p:nvSpPr>
        <p:spPr>
          <a:xfrm>
            <a:off x="7569200" y="6045200"/>
            <a:ext cx="4013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i="1" noProof="1">
                <a:solidFill>
                  <a:srgbClr val="64747F"/>
                </a:solidFill>
                <a:latin typeface="Times New Roman"/>
                <a:ea typeface="Times New Roman"/>
              </a:rPr>
              <a:t>Tishni o'rab turuvchi tayanch to'qimalar</a:t>
            </a:r>
            <a:endParaRPr lang="en-US" sz="1200" noProof="1"/>
          </a:p>
        </p:txBody>
      </p:sp>
      <p:sp>
        <p:nvSpPr>
          <p:cNvPr id="9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08 / 15</a:t>
            </a:r>
            <a:endParaRPr lang="en-US" sz="1100" noProof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PERIODONT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Mulk — gingiva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body"/>
          <p:cNvSpPr txBox="1"/>
          <p:nvPr/>
        </p:nvSpPr>
        <p:spPr>
          <a:xfrm>
            <a:off x="812800" y="1727200"/>
            <a:ext cx="6299200" cy="431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Mulk alveolyar o'siq va tish bo'ynini qoplovchi shilliq qavat qismidir. U uch qismga bo'linadi: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12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Erkin (marjinal) mulk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tish atrofida erkin joylashgan chekka qismi;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8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Birikkan mulk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alveolyar suyakka mahkam yopishgan, donador yuzali qism;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8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Tishlararo papilla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qo'shni tishlar orasidagi uchli qism;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8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Mulk tirmog'i (sulcus gingivalis)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tish bilan mulk orasidagi sayoz yoriq; normada chuqurligi 3 mm dan oshmaydi.</a:t>
            </a:r>
            <a:endParaRPr lang="en-US" sz="1600" noProof="1"/>
          </a:p>
        </p:txBody>
      </p:sp>
      <p:pic>
        <p:nvPicPr>
          <p:cNvPr id="6" name="img"/>
          <p:cNvPicPr/>
          <p:nvPr/>
        </p:nvPicPr>
        <p:blipFill>
          <a:blip r:embed="rId2"/>
          <a:srcRect l="3529" r="3529"/>
          <a:stretch>
            <a:fillRect/>
          </a:stretch>
        </p:blipFill>
        <p:spPr>
          <a:xfrm>
            <a:off x="7569200" y="1625600"/>
            <a:ext cx="4013200" cy="4318000"/>
          </a:xfrm>
          <a:prstGeom prst="roundRect">
            <a:avLst>
              <a:gd name="adj" fmla="val 4000"/>
            </a:avLst>
          </a:prstGeom>
          <a:ln>
            <a:noFill/>
          </a:ln>
        </p:spPr>
      </p:pic>
      <p:sp>
        <p:nvSpPr>
          <p:cNvPr id="7" name="img-border"/>
          <p:cNvSpPr/>
          <p:nvPr/>
        </p:nvSpPr>
        <p:spPr>
          <a:xfrm>
            <a:off x="7569200" y="1625600"/>
            <a:ext cx="4013200" cy="43180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9E3E8"/>
            </a:solidFill>
          </a:ln>
        </p:spPr>
      </p:sp>
      <p:sp>
        <p:nvSpPr>
          <p:cNvPr id="8" name="img-caption"/>
          <p:cNvSpPr txBox="1"/>
          <p:nvPr/>
        </p:nvSpPr>
        <p:spPr>
          <a:xfrm>
            <a:off x="7569200" y="6045200"/>
            <a:ext cx="4013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i="1" noProof="1">
                <a:solidFill>
                  <a:srgbClr val="64747F"/>
                </a:solidFill>
                <a:latin typeface="Times New Roman"/>
                <a:ea typeface="Times New Roman"/>
              </a:rPr>
              <a:t>Sog'lom mulkning klinik ko'rinishi</a:t>
            </a:r>
            <a:endParaRPr lang="en-US" sz="1200" noProof="1"/>
          </a:p>
        </p:txBody>
      </p:sp>
      <p:sp>
        <p:nvSpPr>
          <p:cNvPr id="9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09 / 15</a:t>
            </a:r>
            <a:endParaRPr lang="en-US" sz="1100" noProof="1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PERIODONT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Periodontal boylam (PDL)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body"/>
          <p:cNvSpPr txBox="1"/>
          <p:nvPr/>
        </p:nvSpPr>
        <p:spPr>
          <a:xfrm>
            <a:off x="812800" y="1727200"/>
            <a:ext cx="6299200" cy="431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Periodontal boylam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tish sementini alveolyar suyak bilan bog'lovchi maxsus kollagen tolalar to'plami. Tolalarning sement va suyak ichiga kiruvchi qismlari </a:t>
            </a: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Sharpey tolalari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deyiladi.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1400"/>
              </a:spcBef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Asosiy tolalar guruhlari: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10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Alveolyar tepalik tolalari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bo'yindan alveola tepaligiga;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8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Gorizontal tolalar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ildizga tik yo'nalishda;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8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Qiyshiq tolalar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eng kuchli guruh, chaynash bosimini ushlaydi;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8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Apikal va ildizlararo tolalar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ildiz uchi va bifurkatsiya hududida.</a:t>
            </a:r>
            <a:endParaRPr lang="en-US" sz="1600" noProof="1"/>
          </a:p>
        </p:txBody>
      </p:sp>
      <p:pic>
        <p:nvPicPr>
          <p:cNvPr id="6" name="img"/>
          <p:cNvPicPr/>
          <p:nvPr/>
        </p:nvPicPr>
        <p:blipFill>
          <a:blip r:embed="rId2"/>
          <a:srcRect t="-20973" b="-20973"/>
          <a:stretch>
            <a:fillRect/>
          </a:stretch>
        </p:blipFill>
        <p:spPr>
          <a:xfrm>
            <a:off x="7569200" y="1625600"/>
            <a:ext cx="4013200" cy="4318000"/>
          </a:xfrm>
          <a:prstGeom prst="roundRect">
            <a:avLst>
              <a:gd name="adj" fmla="val 4000"/>
            </a:avLst>
          </a:prstGeom>
          <a:ln>
            <a:noFill/>
          </a:ln>
        </p:spPr>
      </p:pic>
      <p:sp>
        <p:nvSpPr>
          <p:cNvPr id="7" name="img-border"/>
          <p:cNvSpPr/>
          <p:nvPr/>
        </p:nvSpPr>
        <p:spPr>
          <a:xfrm>
            <a:off x="7569200" y="1625600"/>
            <a:ext cx="4013200" cy="43180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9E3E8"/>
            </a:solidFill>
          </a:ln>
        </p:spPr>
      </p:sp>
      <p:sp>
        <p:nvSpPr>
          <p:cNvPr id="8" name="img-caption"/>
          <p:cNvSpPr txBox="1"/>
          <p:nvPr/>
        </p:nvSpPr>
        <p:spPr>
          <a:xfrm>
            <a:off x="7569200" y="6045200"/>
            <a:ext cx="4013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i="1" noProof="1">
                <a:solidFill>
                  <a:srgbClr val="64747F"/>
                </a:solidFill>
                <a:latin typeface="Times New Roman"/>
                <a:ea typeface="Times New Roman"/>
              </a:rPr>
              <a:t>Periodontal boylam kollagen tolalari</a:t>
            </a:r>
            <a:endParaRPr lang="en-US" sz="1200" noProof="1"/>
          </a:p>
        </p:txBody>
      </p:sp>
      <p:sp>
        <p:nvSpPr>
          <p:cNvPr id="9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10 / 15</a:t>
            </a:r>
            <a:endParaRPr lang="en-US" sz="1100" noProof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PERIODONT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Tish sementi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body"/>
          <p:cNvSpPr txBox="1"/>
          <p:nvPr/>
        </p:nvSpPr>
        <p:spPr>
          <a:xfrm>
            <a:off x="812800" y="1727200"/>
            <a:ext cx="6299200" cy="431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  <a:spcBef>
                <a:spcPts val="1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Sement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ildiz sirtini qoplovchi avaskulyar qattiq to'qima; tuzilishi suyakka o'xshaydi, lekin tomirlari yo'q;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10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Hujayrasiz (birinchi darajali) sement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ildizning servikal qismini qoplaydi;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10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Hujayrali (ikkilamchi) sement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apikal uchdanlikda joylashgan, sementotsitlarni o'z ichiga oladi;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10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Sement-emal chegarasi (CEJ)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toj va ildiz to'qimalari uchrashadigan chiziq;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1000"/>
              </a:spcBef>
              <a:buChar char="•"/>
            </a:pP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Hayot davomida sement uzluksiz qatlam-qatlam bo'lib ortib boradi (appozitsiya).</a:t>
            </a:r>
            <a:endParaRPr lang="en-US" sz="1600" noProof="1"/>
          </a:p>
        </p:txBody>
      </p:sp>
      <p:pic>
        <p:nvPicPr>
          <p:cNvPr id="6" name="img"/>
          <p:cNvPicPr/>
          <p:nvPr/>
        </p:nvPicPr>
        <p:blipFill>
          <a:blip r:embed="rId2"/>
          <a:srcRect t="-3684" b="-3684"/>
          <a:stretch>
            <a:fillRect/>
          </a:stretch>
        </p:blipFill>
        <p:spPr>
          <a:xfrm>
            <a:off x="7569200" y="1625600"/>
            <a:ext cx="4013200" cy="4318000"/>
          </a:xfrm>
          <a:prstGeom prst="roundRect">
            <a:avLst>
              <a:gd name="adj" fmla="val 4000"/>
            </a:avLst>
          </a:prstGeom>
          <a:ln>
            <a:noFill/>
          </a:ln>
        </p:spPr>
      </p:pic>
      <p:sp>
        <p:nvSpPr>
          <p:cNvPr id="7" name="img-border"/>
          <p:cNvSpPr/>
          <p:nvPr/>
        </p:nvSpPr>
        <p:spPr>
          <a:xfrm>
            <a:off x="7569200" y="1625600"/>
            <a:ext cx="4013200" cy="43180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9E3E8"/>
            </a:solidFill>
          </a:ln>
        </p:spPr>
      </p:sp>
      <p:sp>
        <p:nvSpPr>
          <p:cNvPr id="8" name="img-caption"/>
          <p:cNvSpPr txBox="1"/>
          <p:nvPr/>
        </p:nvSpPr>
        <p:spPr>
          <a:xfrm>
            <a:off x="7569200" y="6045200"/>
            <a:ext cx="4013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i="1" noProof="1">
                <a:solidFill>
                  <a:srgbClr val="64747F"/>
                </a:solidFill>
                <a:latin typeface="Times New Roman"/>
                <a:ea typeface="Times New Roman"/>
              </a:rPr>
              <a:t>Sement-emal chegarasi (CEJ)</a:t>
            </a:r>
            <a:endParaRPr lang="en-US" sz="1200" noProof="1"/>
          </a:p>
        </p:txBody>
      </p:sp>
      <p:sp>
        <p:nvSpPr>
          <p:cNvPr id="9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11 / 15</a:t>
            </a:r>
            <a:endParaRPr lang="en-US" sz="1100" noProof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PERIODONT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Alveolyar suyak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body"/>
          <p:cNvSpPr txBox="1"/>
          <p:nvPr/>
        </p:nvSpPr>
        <p:spPr>
          <a:xfrm>
            <a:off x="812800" y="1727200"/>
            <a:ext cx="6299200" cy="431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  <a:spcBef>
                <a:spcPts val="1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Alveolyar o'siq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yuqori va pastki jag'ning tish ildizlarini o'rab turuvchi qismi;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10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Lamina dura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rentgen tasvirda alveola devorining zich chiziq sifatida ko'rinuvchi qismi;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1000"/>
              </a:spcBef>
              <a:buChar char="•"/>
            </a:pPr>
            <a:r>
              <a:rPr lang="en-US" sz="1600" b="1" noProof="1">
                <a:solidFill>
                  <a:srgbClr val="22303A"/>
                </a:solidFill>
                <a:latin typeface="Times New Roman"/>
                <a:ea typeface="Times New Roman"/>
              </a:rPr>
              <a:t>Alveolyar tepalik</a:t>
            </a: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 — qo'shni tishlar orasidagi suyak cho'qqisi; normada sement-emal chegarasidan 1–2 mm pastda joylashadi;</a:t>
            </a:r>
            <a:endParaRPr lang="en-US" sz="1600" noProof="1"/>
          </a:p>
          <a:p>
            <a:pPr>
              <a:lnSpc>
                <a:spcPct val="150000"/>
              </a:lnSpc>
              <a:spcBef>
                <a:spcPts val="1000"/>
              </a:spcBef>
              <a:buChar char="•"/>
            </a:pPr>
            <a:r>
              <a:rPr lang="en-US" sz="1600" noProof="1">
                <a:solidFill>
                  <a:srgbClr val="22303A"/>
                </a:solidFill>
                <a:latin typeface="Times New Roman"/>
                <a:ea typeface="Times New Roman"/>
              </a:rPr>
              <a:t>Alveolyar suyak tish mavjudligiga bog'liq: tish olingach, u asta-sekin rezorbsiyaga uchraydi.</a:t>
            </a:r>
            <a:endParaRPr lang="en-US" sz="1600" noProof="1"/>
          </a:p>
        </p:txBody>
      </p:sp>
      <p:pic>
        <p:nvPicPr>
          <p:cNvPr id="6" name="img"/>
          <p:cNvPicPr/>
          <p:nvPr/>
        </p:nvPicPr>
        <p:blipFill>
          <a:blip r:embed="rId2"/>
          <a:srcRect t="-13902" b="-13902"/>
          <a:stretch>
            <a:fillRect/>
          </a:stretch>
        </p:blipFill>
        <p:spPr>
          <a:xfrm>
            <a:off x="7569200" y="1625600"/>
            <a:ext cx="4013200" cy="4318000"/>
          </a:xfrm>
          <a:prstGeom prst="roundRect">
            <a:avLst>
              <a:gd name="adj" fmla="val 4000"/>
            </a:avLst>
          </a:prstGeom>
          <a:ln>
            <a:noFill/>
          </a:ln>
        </p:spPr>
      </p:pic>
      <p:sp>
        <p:nvSpPr>
          <p:cNvPr id="7" name="img-border"/>
          <p:cNvSpPr/>
          <p:nvPr/>
        </p:nvSpPr>
        <p:spPr>
          <a:xfrm>
            <a:off x="7569200" y="1625600"/>
            <a:ext cx="4013200" cy="43180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9E3E8"/>
            </a:solidFill>
          </a:ln>
        </p:spPr>
      </p:sp>
      <p:sp>
        <p:nvSpPr>
          <p:cNvPr id="8" name="img-caption"/>
          <p:cNvSpPr txBox="1"/>
          <p:nvPr/>
        </p:nvSpPr>
        <p:spPr>
          <a:xfrm>
            <a:off x="7569200" y="6045200"/>
            <a:ext cx="4013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i="1" noProof="1">
                <a:solidFill>
                  <a:srgbClr val="64747F"/>
                </a:solidFill>
                <a:latin typeface="Times New Roman"/>
                <a:ea typeface="Times New Roman"/>
              </a:rPr>
              <a:t>Rentgen tasvirda lamina dura va alveolyar tepalik</a:t>
            </a:r>
            <a:endParaRPr lang="en-US" sz="1200" noProof="1"/>
          </a:p>
        </p:txBody>
      </p:sp>
      <p:sp>
        <p:nvSpPr>
          <p:cNvPr id="9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12 / 15</a:t>
            </a:r>
            <a:endParaRPr lang="en-US" sz="1100" noProof="1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PERIODONT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Periodontning funksiyalari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f1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eyJpY29uTmFtZSI6ImZhczphbmNob3IifQ</pptd:icon>
              </p:ext>
            </p:extLst>
          </p:nvPr>
        </p:nvSpPr>
        <p:spPr>
          <a:xfrm>
            <a:off x="8128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88" y="64"/>
                </a:moveTo>
                <a:cubicBezTo>
                  <a:pt x="270" y="64"/>
                  <a:pt x="256" y="78"/>
                  <a:pt x="256" y="96"/>
                </a:cubicBezTo>
                <a:cubicBezTo>
                  <a:pt x="256" y="114"/>
                  <a:pt x="270" y="128"/>
                  <a:pt x="288" y="128"/>
                </a:cubicBezTo>
                <a:cubicBezTo>
                  <a:pt x="306" y="128"/>
                  <a:pt x="320" y="114"/>
                  <a:pt x="320" y="96"/>
                </a:cubicBezTo>
                <a:cubicBezTo>
                  <a:pt x="320" y="78"/>
                  <a:pt x="306" y="64"/>
                  <a:pt x="288" y="64"/>
                </a:cubicBezTo>
                <a:close/>
                <a:moveTo>
                  <a:pt x="192" y="96"/>
                </a:moveTo>
                <a:cubicBezTo>
                  <a:pt x="192" y="43"/>
                  <a:pt x="235" y="0"/>
                  <a:pt x="288" y="0"/>
                </a:cubicBezTo>
                <a:cubicBezTo>
                  <a:pt x="341" y="0"/>
                  <a:pt x="384" y="43"/>
                  <a:pt x="384" y="96"/>
                </a:cubicBezTo>
                <a:cubicBezTo>
                  <a:pt x="384" y="138"/>
                  <a:pt x="357" y="173"/>
                  <a:pt x="320" y="187"/>
                </a:cubicBezTo>
                <a:lnTo>
                  <a:pt x="320" y="444"/>
                </a:lnTo>
                <a:cubicBezTo>
                  <a:pt x="383" y="430"/>
                  <a:pt x="430" y="375"/>
                  <a:pt x="432" y="308"/>
                </a:cubicBezTo>
                <a:lnTo>
                  <a:pt x="416" y="322"/>
                </a:lnTo>
                <a:cubicBezTo>
                  <a:pt x="406" y="331"/>
                  <a:pt x="391" y="330"/>
                  <a:pt x="382" y="320"/>
                </a:cubicBezTo>
                <a:cubicBezTo>
                  <a:pt x="373" y="310"/>
                  <a:pt x="374" y="295"/>
                  <a:pt x="384" y="286"/>
                </a:cubicBezTo>
                <a:lnTo>
                  <a:pt x="448" y="230"/>
                </a:lnTo>
                <a:cubicBezTo>
                  <a:pt x="457" y="222"/>
                  <a:pt x="471" y="222"/>
                  <a:pt x="480" y="230"/>
                </a:cubicBezTo>
                <a:lnTo>
                  <a:pt x="544" y="286"/>
                </a:lnTo>
                <a:cubicBezTo>
                  <a:pt x="554" y="295"/>
                  <a:pt x="555" y="310"/>
                  <a:pt x="546" y="320"/>
                </a:cubicBezTo>
                <a:cubicBezTo>
                  <a:pt x="537" y="330"/>
                  <a:pt x="522" y="331"/>
                  <a:pt x="512" y="322"/>
                </a:cubicBezTo>
                <a:lnTo>
                  <a:pt x="496" y="308"/>
                </a:lnTo>
                <a:cubicBezTo>
                  <a:pt x="494" y="421"/>
                  <a:pt x="402" y="512"/>
                  <a:pt x="288" y="512"/>
                </a:cubicBezTo>
                <a:cubicBezTo>
                  <a:pt x="174" y="512"/>
                  <a:pt x="82" y="421"/>
                  <a:pt x="80" y="308"/>
                </a:cubicBezTo>
                <a:lnTo>
                  <a:pt x="64" y="322"/>
                </a:lnTo>
                <a:cubicBezTo>
                  <a:pt x="54" y="331"/>
                  <a:pt x="39" y="330"/>
                  <a:pt x="30" y="320"/>
                </a:cubicBezTo>
                <a:cubicBezTo>
                  <a:pt x="21" y="310"/>
                  <a:pt x="22" y="295"/>
                  <a:pt x="32" y="286"/>
                </a:cubicBezTo>
                <a:lnTo>
                  <a:pt x="96" y="230"/>
                </a:lnTo>
                <a:cubicBezTo>
                  <a:pt x="105" y="222"/>
                  <a:pt x="119" y="222"/>
                  <a:pt x="128" y="230"/>
                </a:cubicBezTo>
                <a:lnTo>
                  <a:pt x="192" y="286"/>
                </a:lnTo>
                <a:cubicBezTo>
                  <a:pt x="202" y="295"/>
                  <a:pt x="203" y="310"/>
                  <a:pt x="194" y="320"/>
                </a:cubicBezTo>
                <a:cubicBezTo>
                  <a:pt x="185" y="330"/>
                  <a:pt x="170" y="331"/>
                  <a:pt x="160" y="322"/>
                </a:cubicBezTo>
                <a:lnTo>
                  <a:pt x="144" y="308"/>
                </a:lnTo>
                <a:cubicBezTo>
                  <a:pt x="146" y="375"/>
                  <a:pt x="193" y="430"/>
                  <a:pt x="256" y="445"/>
                </a:cubicBezTo>
                <a:lnTo>
                  <a:pt x="256" y="187"/>
                </a:lnTo>
                <a:cubicBezTo>
                  <a:pt x="219" y="173"/>
                  <a:pt x="192" y="138"/>
                  <a:pt x="192" y="96"/>
                </a:cubicBezTo>
                <a:close/>
              </a:path>
            </a:pathLst>
          </a:custGeom>
          <a:solidFill>
            <a:srgbClr val="159AA0"/>
          </a:solidFill>
          <a:ln>
            <a:noFill/>
          </a:ln>
        </p:spPr>
      </p:sp>
      <p:sp>
        <p:nvSpPr>
          <p:cNvPr id="6" name="f1-head"/>
          <p:cNvSpPr txBox="1"/>
          <p:nvPr/>
        </p:nvSpPr>
        <p:spPr>
          <a:xfrm>
            <a:off x="1422400" y="1752600"/>
            <a:ext cx="508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0B3552"/>
                </a:solidFill>
                <a:latin typeface="Times New Roman"/>
                <a:ea typeface="Times New Roman"/>
              </a:rPr>
              <a:t>Tayanch (mexanik)</a:t>
            </a:r>
            <a:endParaRPr lang="en-US" sz="1800" noProof="1"/>
          </a:p>
        </p:txBody>
      </p:sp>
      <p:sp>
        <p:nvSpPr>
          <p:cNvPr id="7" name="f1-desc"/>
          <p:cNvSpPr txBox="1"/>
          <p:nvPr/>
        </p:nvSpPr>
        <p:spPr>
          <a:xfrm>
            <a:off x="1422400" y="2108200"/>
            <a:ext cx="995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Periodontal tolalar chaynash bosimini yumshatadi va tishni alveolada mahkam ushlab turadi.</a:t>
            </a:r>
            <a:endParaRPr lang="en-US" sz="1500" noProof="1"/>
          </a:p>
        </p:txBody>
      </p:sp>
      <p:sp>
        <p:nvSpPr>
          <p:cNvPr id="8" name="f1-line"/>
          <p:cNvSpPr/>
          <p:nvPr/>
        </p:nvSpPr>
        <p:spPr>
          <a:xfrm>
            <a:off x="812800" y="2870200"/>
            <a:ext cx="10566400" cy="12700"/>
          </a:xfrm>
          <a:prstGeom prst="rect">
            <a:avLst/>
          </a:prstGeom>
          <a:solidFill>
            <a:srgbClr val="D9E3E8"/>
          </a:solidFill>
          <a:ln>
            <a:noFill/>
          </a:ln>
        </p:spPr>
      </p:sp>
      <p:sp>
        <p:nvSpPr>
          <p:cNvPr id="9" name="f2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eyJpY29uTmFtZSI6ImZhczpoYW5kIn0</pptd:icon>
              </p:ext>
            </p:extLst>
          </p:nvPr>
        </p:nvSpPr>
        <p:spPr>
          <a:xfrm>
            <a:off x="812800" y="31242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88" y="32"/>
                </a:moveTo>
                <a:cubicBezTo>
                  <a:pt x="288" y="14"/>
                  <a:pt x="274" y="0"/>
                  <a:pt x="256" y="0"/>
                </a:cubicBezTo>
                <a:cubicBezTo>
                  <a:pt x="238" y="0"/>
                  <a:pt x="224" y="14"/>
                  <a:pt x="224" y="32"/>
                </a:cubicBezTo>
                <a:lnTo>
                  <a:pt x="224" y="240"/>
                </a:lnTo>
                <a:cubicBezTo>
                  <a:pt x="224" y="249"/>
                  <a:pt x="217" y="256"/>
                  <a:pt x="208" y="256"/>
                </a:cubicBezTo>
                <a:cubicBezTo>
                  <a:pt x="199" y="256"/>
                  <a:pt x="192" y="249"/>
                  <a:pt x="192" y="240"/>
                </a:cubicBezTo>
                <a:lnTo>
                  <a:pt x="192" y="64"/>
                </a:lnTo>
                <a:cubicBezTo>
                  <a:pt x="192" y="46"/>
                  <a:pt x="178" y="32"/>
                  <a:pt x="160" y="32"/>
                </a:cubicBezTo>
                <a:cubicBezTo>
                  <a:pt x="142" y="32"/>
                  <a:pt x="128" y="46"/>
                  <a:pt x="128" y="64"/>
                </a:cubicBezTo>
                <a:lnTo>
                  <a:pt x="128" y="336"/>
                </a:lnTo>
                <a:cubicBezTo>
                  <a:pt x="128" y="338"/>
                  <a:pt x="128" y="339"/>
                  <a:pt x="128" y="341"/>
                </a:cubicBezTo>
                <a:lnTo>
                  <a:pt x="68" y="283"/>
                </a:lnTo>
                <a:cubicBezTo>
                  <a:pt x="52" y="268"/>
                  <a:pt x="26" y="268"/>
                  <a:pt x="11" y="284"/>
                </a:cubicBezTo>
                <a:cubicBezTo>
                  <a:pt x="-4" y="300"/>
                  <a:pt x="-4" y="326"/>
                  <a:pt x="12" y="341"/>
                </a:cubicBezTo>
                <a:lnTo>
                  <a:pt x="125" y="448"/>
                </a:lnTo>
                <a:cubicBezTo>
                  <a:pt x="168" y="489"/>
                  <a:pt x="225" y="512"/>
                  <a:pt x="285" y="512"/>
                </a:cubicBezTo>
                <a:lnTo>
                  <a:pt x="304" y="512"/>
                </a:lnTo>
                <a:cubicBezTo>
                  <a:pt x="401" y="512"/>
                  <a:pt x="480" y="433"/>
                  <a:pt x="480" y="336"/>
                </a:cubicBezTo>
                <a:lnTo>
                  <a:pt x="480" y="128"/>
                </a:lnTo>
                <a:cubicBezTo>
                  <a:pt x="480" y="110"/>
                  <a:pt x="466" y="96"/>
                  <a:pt x="448" y="96"/>
                </a:cubicBezTo>
                <a:cubicBezTo>
                  <a:pt x="430" y="96"/>
                  <a:pt x="416" y="110"/>
                  <a:pt x="416" y="128"/>
                </a:cubicBezTo>
                <a:lnTo>
                  <a:pt x="416" y="240"/>
                </a:lnTo>
                <a:cubicBezTo>
                  <a:pt x="416" y="249"/>
                  <a:pt x="409" y="256"/>
                  <a:pt x="400" y="256"/>
                </a:cubicBezTo>
                <a:cubicBezTo>
                  <a:pt x="391" y="256"/>
                  <a:pt x="384" y="249"/>
                  <a:pt x="384" y="240"/>
                </a:cubicBezTo>
                <a:lnTo>
                  <a:pt x="384" y="64"/>
                </a:lnTo>
                <a:cubicBezTo>
                  <a:pt x="384" y="46"/>
                  <a:pt x="370" y="32"/>
                  <a:pt x="352" y="32"/>
                </a:cubicBezTo>
                <a:cubicBezTo>
                  <a:pt x="334" y="32"/>
                  <a:pt x="320" y="46"/>
                  <a:pt x="320" y="64"/>
                </a:cubicBezTo>
                <a:lnTo>
                  <a:pt x="320" y="240"/>
                </a:lnTo>
                <a:cubicBezTo>
                  <a:pt x="320" y="249"/>
                  <a:pt x="313" y="256"/>
                  <a:pt x="304" y="256"/>
                </a:cubicBezTo>
                <a:cubicBezTo>
                  <a:pt x="295" y="256"/>
                  <a:pt x="288" y="249"/>
                  <a:pt x="288" y="240"/>
                </a:cubicBezTo>
                <a:lnTo>
                  <a:pt x="288" y="32"/>
                </a:lnTo>
                <a:close/>
              </a:path>
            </a:pathLst>
          </a:custGeom>
          <a:solidFill>
            <a:srgbClr val="159AA0"/>
          </a:solidFill>
          <a:ln>
            <a:noFill/>
          </a:ln>
        </p:spPr>
      </p:sp>
      <p:sp>
        <p:nvSpPr>
          <p:cNvPr id="10" name="f2-head"/>
          <p:cNvSpPr txBox="1"/>
          <p:nvPr/>
        </p:nvSpPr>
        <p:spPr>
          <a:xfrm>
            <a:off x="1422400" y="3098800"/>
            <a:ext cx="508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0B3552"/>
                </a:solidFill>
                <a:latin typeface="Times New Roman"/>
                <a:ea typeface="Times New Roman"/>
              </a:rPr>
              <a:t>Sensor (sezuvchan)</a:t>
            </a:r>
            <a:endParaRPr lang="en-US" sz="1800" noProof="1"/>
          </a:p>
        </p:txBody>
      </p:sp>
      <p:sp>
        <p:nvSpPr>
          <p:cNvPr id="11" name="f2-desc"/>
          <p:cNvSpPr txBox="1"/>
          <p:nvPr/>
        </p:nvSpPr>
        <p:spPr>
          <a:xfrm>
            <a:off x="1422400" y="3454400"/>
            <a:ext cx="995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Propriotseptorlar bosim va teginishni sezib, chaynash kuchining boshqaruvida qatnashadi.</a:t>
            </a:r>
            <a:endParaRPr lang="en-US" sz="1500" noProof="1"/>
          </a:p>
        </p:txBody>
      </p:sp>
      <p:sp>
        <p:nvSpPr>
          <p:cNvPr id="12" name="f2-line"/>
          <p:cNvSpPr/>
          <p:nvPr/>
        </p:nvSpPr>
        <p:spPr>
          <a:xfrm>
            <a:off x="812800" y="4216400"/>
            <a:ext cx="10566400" cy="12700"/>
          </a:xfrm>
          <a:prstGeom prst="rect">
            <a:avLst/>
          </a:prstGeom>
          <a:solidFill>
            <a:srgbClr val="D9E3E8"/>
          </a:solidFill>
          <a:ln>
            <a:noFill/>
          </a:ln>
        </p:spPr>
      </p:sp>
      <p:sp>
        <p:nvSpPr>
          <p:cNvPr id="13" name="f3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eyJpY29uTmFtZSI6ImZhczpoZWFydC1wdWxzZSJ9</pptd:icon>
              </p:ext>
            </p:extLst>
          </p:nvPr>
        </p:nvSpPr>
        <p:spPr>
          <a:xfrm>
            <a:off x="812800" y="44704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108"/>
                </a:moveTo>
                <a:lnTo>
                  <a:pt x="241" y="87"/>
                </a:lnTo>
                <a:cubicBezTo>
                  <a:pt x="216" y="53"/>
                  <a:pt x="176" y="32"/>
                  <a:pt x="133" y="32"/>
                </a:cubicBezTo>
                <a:cubicBezTo>
                  <a:pt x="60" y="32"/>
                  <a:pt x="0" y="92"/>
                  <a:pt x="0" y="165"/>
                </a:cubicBezTo>
                <a:lnTo>
                  <a:pt x="0" y="168"/>
                </a:lnTo>
                <a:cubicBezTo>
                  <a:pt x="0" y="191"/>
                  <a:pt x="6" y="216"/>
                  <a:pt x="17" y="240"/>
                </a:cubicBezTo>
                <a:lnTo>
                  <a:pt x="123" y="240"/>
                </a:lnTo>
                <a:cubicBezTo>
                  <a:pt x="126" y="240"/>
                  <a:pt x="129" y="238"/>
                  <a:pt x="130" y="235"/>
                </a:cubicBezTo>
                <a:lnTo>
                  <a:pt x="162" y="159"/>
                </a:lnTo>
                <a:cubicBezTo>
                  <a:pt x="166" y="150"/>
                  <a:pt x="174" y="144"/>
                  <a:pt x="184" y="144"/>
                </a:cubicBezTo>
                <a:cubicBezTo>
                  <a:pt x="193" y="144"/>
                  <a:pt x="202" y="149"/>
                  <a:pt x="206" y="158"/>
                </a:cubicBezTo>
                <a:lnTo>
                  <a:pt x="257" y="272"/>
                </a:lnTo>
                <a:lnTo>
                  <a:pt x="299" y="189"/>
                </a:lnTo>
                <a:cubicBezTo>
                  <a:pt x="303" y="181"/>
                  <a:pt x="311" y="176"/>
                  <a:pt x="320" y="176"/>
                </a:cubicBezTo>
                <a:cubicBezTo>
                  <a:pt x="329" y="176"/>
                  <a:pt x="337" y="181"/>
                  <a:pt x="342" y="189"/>
                </a:cubicBezTo>
                <a:lnTo>
                  <a:pt x="365" y="236"/>
                </a:lnTo>
                <a:cubicBezTo>
                  <a:pt x="366" y="238"/>
                  <a:pt x="369" y="240"/>
                  <a:pt x="372" y="240"/>
                </a:cubicBezTo>
                <a:lnTo>
                  <a:pt x="496" y="240"/>
                </a:lnTo>
                <a:cubicBezTo>
                  <a:pt x="506" y="216"/>
                  <a:pt x="512" y="191"/>
                  <a:pt x="512" y="168"/>
                </a:cubicBezTo>
                <a:lnTo>
                  <a:pt x="512" y="165"/>
                </a:lnTo>
                <a:cubicBezTo>
                  <a:pt x="512" y="92"/>
                  <a:pt x="452" y="32"/>
                  <a:pt x="379" y="32"/>
                </a:cubicBezTo>
                <a:cubicBezTo>
                  <a:pt x="336" y="32"/>
                  <a:pt x="296" y="53"/>
                  <a:pt x="271" y="87"/>
                </a:cubicBezTo>
                <a:lnTo>
                  <a:pt x="256" y="108"/>
                </a:lnTo>
                <a:close/>
                <a:moveTo>
                  <a:pt x="470" y="288"/>
                </a:moveTo>
                <a:lnTo>
                  <a:pt x="372" y="288"/>
                </a:lnTo>
                <a:cubicBezTo>
                  <a:pt x="351" y="288"/>
                  <a:pt x="331" y="276"/>
                  <a:pt x="322" y="257"/>
                </a:cubicBezTo>
                <a:lnTo>
                  <a:pt x="320" y="254"/>
                </a:lnTo>
                <a:lnTo>
                  <a:pt x="278" y="339"/>
                </a:lnTo>
                <a:cubicBezTo>
                  <a:pt x="273" y="347"/>
                  <a:pt x="265" y="352"/>
                  <a:pt x="256" y="352"/>
                </a:cubicBezTo>
                <a:cubicBezTo>
                  <a:pt x="246" y="352"/>
                  <a:pt x="238" y="346"/>
                  <a:pt x="234" y="338"/>
                </a:cubicBezTo>
                <a:lnTo>
                  <a:pt x="185" y="228"/>
                </a:lnTo>
                <a:lnTo>
                  <a:pt x="174" y="254"/>
                </a:lnTo>
                <a:cubicBezTo>
                  <a:pt x="166" y="274"/>
                  <a:pt x="145" y="288"/>
                  <a:pt x="123" y="288"/>
                </a:cubicBezTo>
                <a:lnTo>
                  <a:pt x="42" y="288"/>
                </a:lnTo>
                <a:cubicBezTo>
                  <a:pt x="90" y="362"/>
                  <a:pt x="165" y="430"/>
                  <a:pt x="213" y="466"/>
                </a:cubicBezTo>
                <a:cubicBezTo>
                  <a:pt x="225" y="475"/>
                  <a:pt x="240" y="480"/>
                  <a:pt x="256" y="480"/>
                </a:cubicBezTo>
                <a:cubicBezTo>
                  <a:pt x="271" y="480"/>
                  <a:pt x="287" y="476"/>
                  <a:pt x="299" y="466"/>
                </a:cubicBezTo>
                <a:cubicBezTo>
                  <a:pt x="347" y="430"/>
                  <a:pt x="422" y="362"/>
                  <a:pt x="470" y="288"/>
                </a:cubicBezTo>
                <a:close/>
              </a:path>
            </a:pathLst>
          </a:custGeom>
          <a:solidFill>
            <a:srgbClr val="159AA0"/>
          </a:solidFill>
          <a:ln>
            <a:noFill/>
          </a:ln>
        </p:spPr>
      </p:sp>
      <p:sp>
        <p:nvSpPr>
          <p:cNvPr id="14" name="f3-head"/>
          <p:cNvSpPr txBox="1"/>
          <p:nvPr/>
        </p:nvSpPr>
        <p:spPr>
          <a:xfrm>
            <a:off x="1422400" y="4445000"/>
            <a:ext cx="508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0B3552"/>
                </a:solidFill>
                <a:latin typeface="Times New Roman"/>
                <a:ea typeface="Times New Roman"/>
              </a:rPr>
              <a:t>Nutritiv (ozuqaviy)</a:t>
            </a:r>
            <a:endParaRPr lang="en-US" sz="1800" noProof="1"/>
          </a:p>
        </p:txBody>
      </p:sp>
      <p:sp>
        <p:nvSpPr>
          <p:cNvPr id="15" name="f3-desc"/>
          <p:cNvSpPr txBox="1"/>
          <p:nvPr/>
        </p:nvSpPr>
        <p:spPr>
          <a:xfrm>
            <a:off x="1422400" y="4800600"/>
            <a:ext cx="995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Tomirlar orqali boylam, sement va alveolyar suyakni oziq moddalar bilan ta'minlaydi.</a:t>
            </a:r>
            <a:endParaRPr lang="en-US" sz="1500" noProof="1"/>
          </a:p>
        </p:txBody>
      </p:sp>
      <p:sp>
        <p:nvSpPr>
          <p:cNvPr id="16" name="f3-line"/>
          <p:cNvSpPr/>
          <p:nvPr/>
        </p:nvSpPr>
        <p:spPr>
          <a:xfrm>
            <a:off x="812800" y="5562600"/>
            <a:ext cx="10566400" cy="12700"/>
          </a:xfrm>
          <a:prstGeom prst="rect">
            <a:avLst/>
          </a:prstGeom>
          <a:solidFill>
            <a:srgbClr val="D9E3E8"/>
          </a:solidFill>
          <a:ln>
            <a:noFill/>
          </a:ln>
        </p:spPr>
      </p:sp>
      <p:sp>
        <p:nvSpPr>
          <p:cNvPr id="17" name="f4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eyJpY29uTmFtZSI6ImZhczphcnJvd3Mtcm90YXRlIn0</pptd:icon>
              </p:ext>
            </p:extLst>
          </p:nvPr>
        </p:nvSpPr>
        <p:spPr>
          <a:xfrm>
            <a:off x="812800" y="5816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6" y="229"/>
                </a:moveTo>
                <a:cubicBezTo>
                  <a:pt x="79" y="136"/>
                  <a:pt x="159" y="64"/>
                  <a:pt x="256" y="64"/>
                </a:cubicBezTo>
                <a:cubicBezTo>
                  <a:pt x="309" y="64"/>
                  <a:pt x="357" y="86"/>
                  <a:pt x="392" y="120"/>
                </a:cubicBezTo>
                <a:cubicBezTo>
                  <a:pt x="392" y="120"/>
                  <a:pt x="392" y="121"/>
                  <a:pt x="392" y="121"/>
                </a:cubicBezTo>
                <a:lnTo>
                  <a:pt x="400" y="128"/>
                </a:lnTo>
                <a:lnTo>
                  <a:pt x="352" y="128"/>
                </a:lnTo>
                <a:cubicBezTo>
                  <a:pt x="334" y="128"/>
                  <a:pt x="320" y="142"/>
                  <a:pt x="320" y="160"/>
                </a:cubicBezTo>
                <a:cubicBezTo>
                  <a:pt x="320" y="178"/>
                  <a:pt x="334" y="192"/>
                  <a:pt x="352" y="192"/>
                </a:cubicBezTo>
                <a:lnTo>
                  <a:pt x="480" y="192"/>
                </a:lnTo>
                <a:cubicBezTo>
                  <a:pt x="498" y="192"/>
                  <a:pt x="512" y="178"/>
                  <a:pt x="512" y="160"/>
                </a:cubicBezTo>
                <a:lnTo>
                  <a:pt x="512" y="32"/>
                </a:lnTo>
                <a:cubicBezTo>
                  <a:pt x="512" y="14"/>
                  <a:pt x="498" y="0"/>
                  <a:pt x="480" y="0"/>
                </a:cubicBezTo>
                <a:cubicBezTo>
                  <a:pt x="462" y="0"/>
                  <a:pt x="448" y="14"/>
                  <a:pt x="448" y="32"/>
                </a:cubicBezTo>
                <a:lnTo>
                  <a:pt x="448" y="85"/>
                </a:lnTo>
                <a:lnTo>
                  <a:pt x="437" y="75"/>
                </a:lnTo>
                <a:cubicBezTo>
                  <a:pt x="391" y="29"/>
                  <a:pt x="327" y="0"/>
                  <a:pt x="256" y="0"/>
                </a:cubicBezTo>
                <a:cubicBezTo>
                  <a:pt x="127" y="0"/>
                  <a:pt x="20" y="95"/>
                  <a:pt x="3" y="220"/>
                </a:cubicBezTo>
                <a:cubicBezTo>
                  <a:pt x="0" y="237"/>
                  <a:pt x="12" y="253"/>
                  <a:pt x="30" y="256"/>
                </a:cubicBezTo>
                <a:cubicBezTo>
                  <a:pt x="47" y="258"/>
                  <a:pt x="63" y="246"/>
                  <a:pt x="66" y="229"/>
                </a:cubicBezTo>
                <a:close/>
                <a:moveTo>
                  <a:pt x="509" y="293"/>
                </a:moveTo>
                <a:cubicBezTo>
                  <a:pt x="512" y="275"/>
                  <a:pt x="500" y="259"/>
                  <a:pt x="482" y="256"/>
                </a:cubicBezTo>
                <a:cubicBezTo>
                  <a:pt x="465" y="254"/>
                  <a:pt x="449" y="266"/>
                  <a:pt x="446" y="283"/>
                </a:cubicBezTo>
                <a:cubicBezTo>
                  <a:pt x="433" y="376"/>
                  <a:pt x="353" y="448"/>
                  <a:pt x="256" y="448"/>
                </a:cubicBezTo>
                <a:cubicBezTo>
                  <a:pt x="203" y="448"/>
                  <a:pt x="155" y="426"/>
                  <a:pt x="120" y="392"/>
                </a:cubicBezTo>
                <a:cubicBezTo>
                  <a:pt x="120" y="392"/>
                  <a:pt x="120" y="391"/>
                  <a:pt x="120" y="391"/>
                </a:cubicBezTo>
                <a:lnTo>
                  <a:pt x="112" y="384"/>
                </a:lnTo>
                <a:lnTo>
                  <a:pt x="160" y="384"/>
                </a:lnTo>
                <a:cubicBezTo>
                  <a:pt x="178" y="384"/>
                  <a:pt x="192" y="370"/>
                  <a:pt x="192" y="352"/>
                </a:cubicBezTo>
                <a:cubicBezTo>
                  <a:pt x="192" y="334"/>
                  <a:pt x="178" y="320"/>
                  <a:pt x="160" y="320"/>
                </a:cubicBezTo>
                <a:lnTo>
                  <a:pt x="32" y="320"/>
                </a:lnTo>
                <a:cubicBezTo>
                  <a:pt x="24" y="320"/>
                  <a:pt x="15" y="323"/>
                  <a:pt x="9" y="330"/>
                </a:cubicBezTo>
                <a:cubicBezTo>
                  <a:pt x="3" y="336"/>
                  <a:pt x="0" y="344"/>
                  <a:pt x="0" y="352"/>
                </a:cubicBezTo>
                <a:lnTo>
                  <a:pt x="1" y="479"/>
                </a:lnTo>
                <a:cubicBezTo>
                  <a:pt x="1" y="497"/>
                  <a:pt x="16" y="511"/>
                  <a:pt x="33" y="511"/>
                </a:cubicBezTo>
                <a:cubicBezTo>
                  <a:pt x="51" y="511"/>
                  <a:pt x="65" y="496"/>
                  <a:pt x="65" y="479"/>
                </a:cubicBezTo>
                <a:lnTo>
                  <a:pt x="65" y="427"/>
                </a:lnTo>
                <a:lnTo>
                  <a:pt x="75" y="437"/>
                </a:lnTo>
                <a:cubicBezTo>
                  <a:pt x="122" y="483"/>
                  <a:pt x="186" y="512"/>
                  <a:pt x="256" y="512"/>
                </a:cubicBezTo>
                <a:cubicBezTo>
                  <a:pt x="385" y="512"/>
                  <a:pt x="492" y="417"/>
                  <a:pt x="509" y="293"/>
                </a:cubicBezTo>
                <a:close/>
              </a:path>
            </a:pathLst>
          </a:custGeom>
          <a:solidFill>
            <a:srgbClr val="159AA0"/>
          </a:solidFill>
          <a:ln>
            <a:noFill/>
          </a:ln>
        </p:spPr>
      </p:sp>
      <p:sp>
        <p:nvSpPr>
          <p:cNvPr id="18" name="f4-head"/>
          <p:cNvSpPr txBox="1"/>
          <p:nvPr/>
        </p:nvSpPr>
        <p:spPr>
          <a:xfrm>
            <a:off x="1422400" y="5791200"/>
            <a:ext cx="508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0B3552"/>
                </a:solidFill>
                <a:latin typeface="Times New Roman"/>
                <a:ea typeface="Times New Roman"/>
              </a:rPr>
              <a:t>Gomeostatik (tartibga soluvchi)</a:t>
            </a:r>
            <a:endParaRPr lang="en-US" sz="1800" noProof="1"/>
          </a:p>
        </p:txBody>
      </p:sp>
      <p:sp>
        <p:nvSpPr>
          <p:cNvPr id="19" name="f4-desc"/>
          <p:cNvSpPr txBox="1"/>
          <p:nvPr/>
        </p:nvSpPr>
        <p:spPr>
          <a:xfrm>
            <a:off x="1422400" y="6146800"/>
            <a:ext cx="995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Suyak va sement hujayralari ularning uzluksiz yangilanishini (remodelirovka) ta'minlaydi.</a:t>
            </a:r>
            <a:endParaRPr lang="en-US" sz="1500" noProof="1"/>
          </a:p>
        </p:txBody>
      </p:sp>
      <p:sp>
        <p:nvSpPr>
          <p:cNvPr id="20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13 / 15</a:t>
            </a:r>
            <a:endParaRPr lang="en-US" sz="1100" noProof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KLINIK AHAMIYAT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Klinik ahamiyati: pulpit va periodontit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c1-head"/>
          <p:cNvSpPr txBox="1"/>
          <p:nvPr/>
        </p:nvSpPr>
        <p:spPr>
          <a:xfrm>
            <a:off x="812800" y="1701800"/>
            <a:ext cx="6096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 noProof="1">
                <a:solidFill>
                  <a:srgbClr val="0B3552"/>
                </a:solidFill>
                <a:latin typeface="Times New Roman"/>
                <a:ea typeface="Times New Roman"/>
              </a:rPr>
              <a:t>Pulpit</a:t>
            </a:r>
            <a:endParaRPr lang="en-US" sz="1900" noProof="1"/>
          </a:p>
        </p:txBody>
      </p:sp>
      <p:sp>
        <p:nvSpPr>
          <p:cNvPr id="6" name="c1-rule"/>
          <p:cNvSpPr/>
          <p:nvPr/>
        </p:nvSpPr>
        <p:spPr>
          <a:xfrm>
            <a:off x="812800" y="2082800"/>
            <a:ext cx="457200" cy="254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7" name="c1-body"/>
          <p:cNvSpPr txBox="1"/>
          <p:nvPr/>
        </p:nvSpPr>
        <p:spPr>
          <a:xfrm>
            <a:off x="812800" y="2235200"/>
            <a:ext cx="6096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Chuqur karies jarayoni pulpaga yetib borganda uning yallig'lanishi kelib chiqadi. Kuchli, o'z-o'zidan paydo bo'luvchi og'riq bilan xarakterlanadi; o'z vaqtida endodontik davolash talab etiladi.</a:t>
            </a:r>
            <a:endParaRPr lang="en-US" sz="1500" noProof="1"/>
          </a:p>
        </p:txBody>
      </p:sp>
      <p:sp>
        <p:nvSpPr>
          <p:cNvPr id="8" name="c2-head"/>
          <p:cNvSpPr txBox="1"/>
          <p:nvPr/>
        </p:nvSpPr>
        <p:spPr>
          <a:xfrm>
            <a:off x="812800" y="3937000"/>
            <a:ext cx="6096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 noProof="1">
                <a:solidFill>
                  <a:srgbClr val="0B3552"/>
                </a:solidFill>
                <a:latin typeface="Times New Roman"/>
                <a:ea typeface="Times New Roman"/>
              </a:rPr>
              <a:t>Periodontit</a:t>
            </a:r>
            <a:endParaRPr lang="en-US" sz="1900" noProof="1"/>
          </a:p>
        </p:txBody>
      </p:sp>
      <p:sp>
        <p:nvSpPr>
          <p:cNvPr id="9" name="c2-rule"/>
          <p:cNvSpPr/>
          <p:nvPr/>
        </p:nvSpPr>
        <p:spPr>
          <a:xfrm>
            <a:off x="812800" y="4318000"/>
            <a:ext cx="457200" cy="254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10" name="c2-body"/>
          <p:cNvSpPr txBox="1"/>
          <p:nvPr/>
        </p:nvSpPr>
        <p:spPr>
          <a:xfrm>
            <a:off x="812800" y="4470400"/>
            <a:ext cx="60960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Tish yopishqoq cho'kmalari ta'sirida mulk yallig'lanadi, periodontal cho'ntak hosil bo'ladi va alveolyar suyak rezorbsiyalanadi. Og'zaki gigiyena va professional tozalash — asosiy profilaktika choralari.</a:t>
            </a:r>
            <a:endParaRPr lang="en-US" sz="1500" noProof="1"/>
          </a:p>
        </p:txBody>
      </p:sp>
      <p:pic>
        <p:nvPicPr>
          <p:cNvPr id="11" name="img"/>
          <p:cNvPicPr/>
          <p:nvPr/>
        </p:nvPicPr>
        <p:blipFill>
          <a:blip r:embed="rId2"/>
          <a:srcRect t="-15847" b="-15847"/>
          <a:stretch>
            <a:fillRect/>
          </a:stretch>
        </p:blipFill>
        <p:spPr>
          <a:xfrm>
            <a:off x="7315200" y="1625600"/>
            <a:ext cx="4267200" cy="4318000"/>
          </a:xfrm>
          <a:prstGeom prst="rect">
            <a:avLst/>
          </a:prstGeom>
          <a:ln>
            <a:noFill/>
          </a:ln>
        </p:spPr>
      </p:pic>
      <p:sp>
        <p:nvSpPr>
          <p:cNvPr id="12" name="img-caption"/>
          <p:cNvSpPr txBox="1"/>
          <p:nvPr/>
        </p:nvSpPr>
        <p:spPr>
          <a:xfrm>
            <a:off x="7315200" y="6045200"/>
            <a:ext cx="4267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i="1" noProof="1">
                <a:solidFill>
                  <a:srgbClr val="64747F"/>
                </a:solidFill>
                <a:latin typeface="Times New Roman"/>
                <a:ea typeface="Times New Roman"/>
              </a:rPr>
              <a:t>Sog'lom tish va periodontit taqqoslamasi</a:t>
            </a:r>
            <a:endParaRPr lang="en-US" sz="1200" noProof="1"/>
          </a:p>
        </p:txBody>
      </p:sp>
      <p:sp>
        <p:nvSpPr>
          <p:cNvPr id="13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14 / 15</a:t>
            </a:r>
            <a:endParaRPr lang="en-US" sz="1100" noProof="1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2E45"/>
            </a:gs>
            <a:gs pos="100000">
              <a:srgbClr val="071B29"/>
            </a:gs>
          </a:gsLst>
          <a:lin ang="6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inal-img"/>
          <p:cNvPicPr/>
          <p:nvPr/>
        </p:nvPicPr>
        <p:blipFill>
          <a:blip r:embed="rId2"/>
          <a:srcRect t="909" b="909"/>
          <a:stretch>
            <a:fillRect/>
          </a:stretch>
        </p:blipFill>
        <p:spPr>
          <a:xfrm>
            <a:off x="6604000" y="0"/>
            <a:ext cx="5588000" cy="6858000"/>
          </a:xfrm>
          <a:prstGeom prst="rect">
            <a:avLst/>
          </a:prstGeom>
          <a:ln>
            <a:noFill/>
          </a:ln>
        </p:spPr>
      </p:pic>
      <p:sp>
        <p:nvSpPr>
          <p:cNvPr id="3" name="final-overlay"/>
          <p:cNvSpPr/>
          <p:nvPr/>
        </p:nvSpPr>
        <p:spPr>
          <a:xfrm>
            <a:off x="6604000" y="0"/>
            <a:ext cx="5588000" cy="6858000"/>
          </a:xfrm>
          <a:prstGeom prst="rect">
            <a:avLst/>
          </a:prstGeom>
          <a:gradFill rotWithShape="1">
            <a:gsLst>
              <a:gs pos="0">
                <a:srgbClr val="0A2E45">
                  <a:alpha val="94902"/>
                </a:srgbClr>
              </a:gs>
              <a:gs pos="45000">
                <a:srgbClr val="0A2E45">
                  <a:alpha val="40000"/>
                </a:srgbClr>
              </a:gs>
              <a:gs pos="100000">
                <a:srgbClr val="0A2E45">
                  <a:alpha val="0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kicker"/>
          <p:cNvSpPr txBox="1"/>
          <p:nvPr/>
        </p:nvSpPr>
        <p:spPr>
          <a:xfrm>
            <a:off x="812800" y="1219200"/>
            <a:ext cx="533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8FD6DA"/>
                </a:solidFill>
                <a:latin typeface="Times New Roman"/>
                <a:ea typeface="Times New Roman"/>
              </a:rPr>
              <a:t>XULOSA</a:t>
            </a:r>
            <a:endParaRPr lang="en-US" sz="1200" noProof="1"/>
          </a:p>
        </p:txBody>
      </p:sp>
      <p:sp>
        <p:nvSpPr>
          <p:cNvPr id="5" name="body"/>
          <p:cNvSpPr txBox="1"/>
          <p:nvPr/>
        </p:nvSpPr>
        <p:spPr>
          <a:xfrm>
            <a:off x="812800" y="1651000"/>
            <a:ext cx="5461000" cy="279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700" b="1" noProof="1">
                <a:solidFill>
                  <a:srgbClr val="E8F1F5"/>
                </a:solidFill>
                <a:latin typeface="Times New Roman"/>
                <a:ea typeface="Times New Roman"/>
              </a:rPr>
              <a:t>Pulpa</a:t>
            </a:r>
            <a:r>
              <a:rPr lang="en-US" sz="1700" noProof="1">
                <a:solidFill>
                  <a:srgbClr val="E8F1F5"/>
                </a:solidFill>
                <a:latin typeface="Times New Roman"/>
                <a:ea typeface="Times New Roman"/>
              </a:rPr>
              <a:t> — tishning ichki hayoti: uni oziqlantiradi, himoya qiladi va sezuvchanligini ta'minlaydi.</a:t>
            </a:r>
            <a:endParaRPr lang="en-US" sz="1700" noProof="1"/>
          </a:p>
          <a:p>
            <a:pPr>
              <a:lnSpc>
                <a:spcPct val="150000"/>
              </a:lnSpc>
              <a:spcBef>
                <a:spcPts val="1400"/>
              </a:spcBef>
            </a:pPr>
            <a:r>
              <a:rPr lang="en-US" sz="1700" b="1" noProof="1">
                <a:solidFill>
                  <a:srgbClr val="E8F1F5"/>
                </a:solidFill>
                <a:latin typeface="Times New Roman"/>
                <a:ea typeface="Times New Roman"/>
              </a:rPr>
              <a:t>Periodont</a:t>
            </a:r>
            <a:r>
              <a:rPr lang="en-US" sz="1700" noProof="1">
                <a:solidFill>
                  <a:srgbClr val="E8F1F5"/>
                </a:solidFill>
                <a:latin typeface="Times New Roman"/>
                <a:ea typeface="Times New Roman"/>
              </a:rPr>
              <a:t> — tishning tashqi tayanchi: uni alveolada mahkam ushlab turadi.</a:t>
            </a:r>
            <a:endParaRPr lang="en-US" sz="1700" noProof="1"/>
          </a:p>
          <a:p>
            <a:pPr>
              <a:lnSpc>
                <a:spcPct val="150000"/>
              </a:lnSpc>
              <a:spcBef>
                <a:spcPts val="1400"/>
              </a:spcBef>
            </a:pPr>
            <a:r>
              <a:rPr lang="en-US" sz="1700" noProof="1">
                <a:solidFill>
                  <a:srgbClr val="E8F1F5"/>
                </a:solidFill>
                <a:latin typeface="Times New Roman"/>
                <a:ea typeface="Times New Roman"/>
              </a:rPr>
              <a:t>Bu ikki tizimning anatomik va funksional birdamligi tish sog'lig'ining asosi hisoblanadi.</a:t>
            </a:r>
            <a:endParaRPr lang="en-US" sz="1700" noProof="1"/>
          </a:p>
        </p:txBody>
      </p:sp>
      <p:sp>
        <p:nvSpPr>
          <p:cNvPr id="6" name="rule"/>
          <p:cNvSpPr/>
          <p:nvPr/>
        </p:nvSpPr>
        <p:spPr>
          <a:xfrm>
            <a:off x="812800" y="47244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7" name="thanks"/>
          <p:cNvSpPr txBox="1"/>
          <p:nvPr/>
        </p:nvSpPr>
        <p:spPr>
          <a:xfrm>
            <a:off x="812800" y="5029200"/>
            <a:ext cx="54610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800" b="1" noProof="1">
                <a:solidFill>
                  <a:srgbClr val="8FD6DA"/>
                </a:solidFill>
                <a:latin typeface="Times New Roman"/>
                <a:ea typeface="Times New Roman"/>
              </a:rPr>
              <a:t>E'tiboringiz uchun rahmat!</a:t>
            </a:r>
            <a:endParaRPr lang="en-US" sz="28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1027</Words>
  <Application>Microsoft Office PowerPoint</Application>
  <PresentationFormat>Широкоэкранный</PresentationFormat>
  <Paragraphs>138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8" baseType="lpstr">
      <vt:lpstr>MiSans</vt:lpstr>
      <vt:lpstr>Times New Roman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Tish tuzilishi: pulpa va periodont</dc:title>
  <dc:creator>JAXONGIR</dc:creator>
  <cp:lastModifiedBy>profix</cp:lastModifiedBy>
  <cp:revision>1</cp:revision>
  <dcterms:modified xsi:type="dcterms:W3CDTF">2026-10-18T15:10:03Z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</Properties>
</file>