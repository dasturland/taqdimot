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uz-UZ">
        <a:latin typeface="Times New Roman"/>
        <a:cs typeface="Times New Roman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>
          <a:solidFill>
            <a:schemeClr val="lt1"/>
          </a:solidFill>
          <a:latin typeface="Times New Roman"/>
          <a:cs typeface="Times New Roman"/>
        </a:defRPr>
      </a:lvl1pPr>
    </p:titleStyle>
    <p:bodyStyle>
      <a:lvl1pPr>
        <a:defRPr sz="1600">
          <a:solidFill>
            <a:schemeClr val="lt1"/>
          </a:solidFill>
          <a:latin typeface="Times New Roman"/>
          <a:cs typeface="Times New Roman"/>
        </a:defRPr>
      </a:lvl1pPr>
    </p:bodyStyle>
    <p:otherStyle>
      <a:lvl1pPr>
        <a:defRPr sz="1600">
          <a:latin typeface="Times New Roman"/>
          <a:cs typeface="Times New Roman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UniChip"/>
          <p:cNvSpPr txBox="1"/>
          <p:nvPr/>
        </p:nvSpPr>
        <p:spPr>
          <a:xfrm>
            <a:off x="594360" y="47548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4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</a:t>
            </a:r>
          </a:p>
        </p:txBody>
      </p:sp>
      <p:sp>
        <p:nvSpPr>
          <p:cNvPr id="4" name="AccentBar"/>
          <p:cNvSpPr/>
          <p:nvPr/>
        </p:nvSpPr>
        <p:spPr>
          <a:xfrm>
            <a:off x="594360" y="1627632"/>
            <a:ext cx="64008" cy="2103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5" name="MainTitle"/>
          <p:cNvSpPr txBox="1"/>
          <p:nvPr/>
        </p:nvSpPr>
        <p:spPr>
          <a:xfrm>
            <a:off x="868680" y="1645920"/>
            <a:ext cx="676656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4000"/>
              </a:lnSpc>
              <a:buNone/>
            </a:pPr>
            <a:r>
              <a:rPr lang="uz-UZ" sz="3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Simsiz aloqa va</a:t>
            </a:r>
          </a:p>
          <a:p>
            <a:pPr>
              <a:lnSpc>
                <a:spcPct val="104000"/>
              </a:lnSpc>
              <a:buNone/>
            </a:pPr>
            <a:r>
              <a:rPr lang="uz-UZ" sz="3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elektromagnit to'lqinlar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68680" y="3310128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0000"/>
              </a:lnSpc>
              <a:buNone/>
            </a:pPr>
            <a:r>
              <a:rPr lang="uz-UZ" sz="20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Wi-Fi, Bluetooth va 5G texnologiyalarining jismoniy asoslari</a:t>
            </a:r>
          </a:p>
        </p:txBody>
      </p:sp>
      <p:sp>
        <p:nvSpPr>
          <p:cNvPr id="7" name="Divider"/>
          <p:cNvSpPr/>
          <p:nvPr/>
        </p:nvSpPr>
        <p:spPr>
          <a:xfrm>
            <a:off x="868680" y="4224528"/>
            <a:ext cx="2011680" cy="274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Info"/>
          <p:cNvSpPr txBox="1"/>
          <p:nvPr/>
        </p:nvSpPr>
        <p:spPr>
          <a:xfrm>
            <a:off x="868680" y="4407408"/>
            <a:ext cx="6766560" cy="2011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08000"/>
              </a:lnSpc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Universitet: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tabiiy fanlar oliy maktabi</a:t>
            </a:r>
          </a:p>
          <a:p>
            <a:pPr>
              <a:lnSpc>
                <a:spcPct val="108000"/>
              </a:lnSpc>
              <a:spcBef>
                <a:spcPts val="700"/>
              </a:spcBef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Fan: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Axborot tizimlari</a:t>
            </a:r>
          </a:p>
          <a:p>
            <a:pPr>
              <a:lnSpc>
                <a:spcPct val="108000"/>
              </a:lnSpc>
              <a:spcBef>
                <a:spcPts val="700"/>
              </a:spcBef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Guruh: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242_26</a:t>
            </a:r>
          </a:p>
          <a:p>
            <a:pPr>
              <a:lnSpc>
                <a:spcPct val="108000"/>
              </a:lnSpc>
              <a:spcBef>
                <a:spcPts val="700"/>
              </a:spcBef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Talaba: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Toshboʻriyeva Marjona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MUNDARIJA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Taqdimot rejasi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Agenda"/>
          <p:cNvSpPr txBox="1"/>
          <p:nvPr/>
        </p:nvSpPr>
        <p:spPr>
          <a:xfrm>
            <a:off x="777240" y="1828800"/>
            <a:ext cx="630936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uz-UZ" sz="18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1-reja. </a:t>
            </a:r>
            <a:r>
              <a:rPr lang="uz-UZ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Elektromagnit to'lqinlar va chastota spektri fizikasi.</a:t>
            </a:r>
          </a:p>
          <a:p>
            <a:pPr>
              <a:lnSpc>
                <a:spcPct val="112000"/>
              </a:lnSpc>
              <a:spcBef>
                <a:spcPts val="1500"/>
              </a:spcBef>
              <a:buNone/>
            </a:pPr>
            <a:r>
              <a:rPr lang="uz-UZ" sz="18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2-reja. </a:t>
            </a:r>
            <a:r>
              <a:rPr lang="uz-UZ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Wi-Fi va Bluetooth texnologiyalarining ishlash mexanizmlari.</a:t>
            </a:r>
          </a:p>
          <a:p>
            <a:pPr>
              <a:lnSpc>
                <a:spcPct val="112000"/>
              </a:lnSpc>
              <a:spcBef>
                <a:spcPts val="1500"/>
              </a:spcBef>
              <a:buNone/>
            </a:pPr>
            <a:r>
              <a:rPr lang="uz-UZ" sz="18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3-reja. </a:t>
            </a:r>
            <a:r>
              <a:rPr lang="uz-UZ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5G inqilobi: Millimetrli to'lqinlar va tarmoq tezligi.</a:t>
            </a:r>
          </a:p>
          <a:p>
            <a:pPr>
              <a:lnSpc>
                <a:spcPct val="112000"/>
              </a:lnSpc>
              <a:spcBef>
                <a:spcPts val="1500"/>
              </a:spcBef>
              <a:buNone/>
            </a:pPr>
            <a:r>
              <a:rPr lang="uz-UZ" sz="18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Xulosa. </a:t>
            </a:r>
            <a:r>
              <a:rPr lang="uz-UZ" sz="18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Simsiz axborot tizimlarining jamiyatdagi o'rni.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1-REJA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1. Elektromagnit to'lqinlar fizikasi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Simsiz aloqa ko'zga ko'rinmas elektromagnit to'lqinlar yordamida amalga oshiriladi.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Asosiy tushuncha: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Axborot tizimlaridagi raqamli ma'lumotlar (0 va 1) elektr va magnit maydonlarining tebranishlari orqali fazoda yorug'lik tezligida (300,000 km/s) tarqaladi.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To'lqin uzunligi va chastota: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Chastota (Gerts) bir soniyadagi to'lqinlar tebranishi sonini bildiradi. Chastota qanchalik yuqori bo'lsa, to'lqin shunchalik ko'p ma'lumot tashiydi, lekin qisqa masofaga boradi.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1-REJA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Radioto'lqinlar spektri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Turli texnologiyalar elektromagnit spektrning turli qismlaridan foydalanadi: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Radio va TV: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Past chastotali, juda uzoq masofalarga tarqaluvchi to'lqinlar.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Mikroto'lqinlar: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Wi-Fi, Bluetooth va mobil aloqa (4G, 5G) aynan shu diapazonda (Gigagerts - GHz) ishlaydi.</a:t>
            </a:r>
          </a:p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Axborot tizimlarida signallar bir-biriga xalaqit bermasligi (interferensiya bo'lmasligi) uchun har bir qurilma o'ziga ajratilgan qat'iy chastota yo'lagida harakatlanadi.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2-REJA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2. Wi-Fi texnologiyasi qanday ishlaydi?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Wi-Fi (Wireless Fidelity) lokal axborot tarmoqlarining asosidir.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Ishlash chastotasi: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Wi-Fi asosan ikkita chastotada — 2.4 GHz va 5 GHz da ishlaydi.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Fizik farqi: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2.4 GHz chastota devorlardan oson o'tadi va uzoqroqqa boradi, lekin tezligi past. 5 GHz chastota esa juda yuqori tezlikda axborot uzatadi, biroq to'siqlarga tez urilib so'nadi (qisqa masofali). Router ma'lumotlarni paketlarga bo'lib, shu to'lqinlar orqali tarqatadi.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2-REJA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Bluetooth va qisqa masofali aloqa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Bluetooth texnologiyasi ham Wi-Fi kabi 2.4 GHz chastotada ishlaydi, biroq u uzoq masofaga emas, balki shaxsiy qurilmalarni (smartfon, quloqchin, soat) bog'lashga mo'ljallangan.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Frequency Hopping: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Signallar aralashib ketmasligi uchun Bluetooth soniyasiga 1600 marta o'z chastotasini almashtirib turadi.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Energiya tejamkorligi: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Ushbu texnologiyaning radioto'lqinlari juda past quvvatda tarqaladi, shu sababli batareya quvvatini kam sarflaydi.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3-REJA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3. 5G inqilobi va texnologiyasi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Beshinchi avlod (5G) mobil tarmoqlari telekommunikatsiya va axborot tizimlarida inqilobiy tezlikni (10 Gbit/s gacha) taqdim etadi.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Millimetrli to'lqinlar (mmWave):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5G juda yuqori chastotalardan (24 GHz dan 100 GHz gacha) foydalanadi. Bu to'lqinlar o'ta kalta bo'lib, ma'lumotlarni misli ko'rilmagan tezlikda tashiydi.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Kam kechikish (Low Latency):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Signalning borib qaytish vaqti 1 millisoniyagacha qisqartirilgan, bu kelajakda avtopilot mashinalar va masofaviy jarrohlik amaliyotlari uchun muhimdir.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3-REJA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5G arxitekturasi va to'siqlar fizikasi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Panel"/>
          <p:cNvSpPr/>
          <p:nvPr/>
        </p:nvSpPr>
        <p:spPr>
          <a:xfrm>
            <a:off x="457200" y="1517904"/>
            <a:ext cx="6812280" cy="4617720"/>
          </a:xfrm>
          <a:prstGeom prst="roundRect">
            <a:avLst/>
          </a:prstGeom>
          <a:solidFill>
            <a:srgbClr val="0A1330">
              <a:alpha val="52000"/>
            </a:srgbClr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8" name="PanelBar"/>
          <p:cNvSpPr/>
          <p:nvPr/>
        </p:nvSpPr>
        <p:spPr>
          <a:xfrm>
            <a:off x="457200" y="1700784"/>
            <a:ext cx="32004" cy="4251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9" name="Body"/>
          <p:cNvSpPr txBox="1"/>
          <p:nvPr/>
        </p:nvSpPr>
        <p:spPr>
          <a:xfrm>
            <a:off x="777240" y="1783080"/>
            <a:ext cx="6309360" cy="4206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Millimetrli to'lqinlarning asosiy kamchiligi ularning fizik tabiatidir — ular yomg'ir, daraxt barglari yoki hatto odam tanasidan ham o'ta olmaydi, tez so'nadi.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Kichik stansiyalar (Small Cells):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Shu sababli 5G tarmog'ini yaratishda bitta katta minora emas, balki har bir ko'cha va binoga o'nlab mitti antennalar o'rnatiladi.</a:t>
            </a:r>
          </a:p>
          <a:p>
            <a:pPr marL="274320" indent="-274320">
              <a:lnSpc>
                <a:spcPct val="115000"/>
              </a:lnSpc>
              <a:spcBef>
                <a:spcPts val="1000"/>
              </a:spcBef>
              <a:buClr>
                <a:srgbClr val="6FE3FF"/>
              </a:buClr>
              <a:buFont typeface="Times New Roman"/>
              <a:buChar char="•"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Beamforming (Nurni yo'naltirish):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5G signallarni barcha tomonga sochamaydi, balki to'g'ridan-to'g'ri foydalanuvchi smartfoniga lazer kabi aniq yo'naltiradi.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ipSq"/>
          <p:cNvSpPr/>
          <p:nvPr/>
        </p:nvSpPr>
        <p:spPr>
          <a:xfrm>
            <a:off x="502920" y="42976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4" name="Chip"/>
          <p:cNvSpPr txBox="1"/>
          <p:nvPr/>
        </p:nvSpPr>
        <p:spPr>
          <a:xfrm>
            <a:off x="749808" y="36576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300" b="1" spc="300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XULOSA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84632" y="676656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28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Xulosa</a:t>
            </a:r>
          </a:p>
        </p:txBody>
      </p:sp>
      <p:sp>
        <p:nvSpPr>
          <p:cNvPr id="6" name="TitleBar"/>
          <p:cNvSpPr/>
          <p:nvPr/>
        </p:nvSpPr>
        <p:spPr>
          <a:xfrm>
            <a:off x="512064" y="1335024"/>
            <a:ext cx="1463040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7" name="Lead"/>
          <p:cNvSpPr txBox="1"/>
          <p:nvPr/>
        </p:nvSpPr>
        <p:spPr>
          <a:xfrm>
            <a:off x="502920" y="164592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5000"/>
              </a:lnSpc>
              <a:buNone/>
            </a:pPr>
            <a:r>
              <a:rPr lang="uz-UZ" sz="17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Xulosa qilib aytganda, simsiz aloqa texnologiyalari to'liq elektromagnit fizika qonuniyatlariga tayanadi.</a:t>
            </a:r>
          </a:p>
        </p:txBody>
      </p:sp>
      <p:sp>
        <p:nvSpPr>
          <p:cNvPr id="8" name="Box"/>
          <p:cNvSpPr/>
          <p:nvPr/>
        </p:nvSpPr>
        <p:spPr>
          <a:xfrm>
            <a:off x="457200" y="2743200"/>
            <a:ext cx="6812280" cy="3246120"/>
          </a:xfrm>
          <a:prstGeom prst="roundRect">
            <a:avLst/>
          </a:prstGeom>
          <a:solidFill>
            <a:srgbClr val="0A1330">
              <a:alpha val="58000"/>
            </a:srgbClr>
          </a:solidFill>
          <a:ln w="15875">
            <a:solidFill>
              <a:srgbClr val="22D3EE"/>
            </a:solidFill>
          </a:ln>
        </p:spPr>
        <p:txBody>
          <a:bodyPr/>
          <a:lstStyle/>
          <a:p>
            <a:endParaRPr lang="uz-UZ"/>
          </a:p>
        </p:txBody>
      </p:sp>
      <p:sp>
        <p:nvSpPr>
          <p:cNvPr id="9" name="BoxText"/>
          <p:cNvSpPr txBox="1"/>
          <p:nvPr/>
        </p:nvSpPr>
        <p:spPr>
          <a:xfrm>
            <a:off x="777240" y="3017520"/>
            <a:ext cx="626364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Wi-Fi va Bluetooth kundalik lokal ehtiyojlarimizni qondirsa, </a:t>
            </a: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5G to'lqinlari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 kelajakdagi </a:t>
            </a: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“Aqlli shaharlar” (Smart Cities)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, </a:t>
            </a: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buyumlar interneti (IoT)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 va global axborot tizimlari (masalan, JDPU ta'lim platformalari) integratsiyasi uchun mustahkam infratuzilma poydevori bo'lib xizmat qiladi.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02920" y="6437376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• Axborot tizimlari</a:t>
            </a:r>
          </a:p>
        </p:txBody>
      </p:sp>
      <p:sp>
        <p:nvSpPr>
          <p:cNvPr id="11" name="PageNum"/>
          <p:cNvSpPr txBox="1"/>
          <p:nvPr/>
        </p:nvSpPr>
        <p:spPr>
          <a:xfrm>
            <a:off x="11064240" y="643737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buNone/>
            </a:pPr>
            <a:r>
              <a:rPr lang="uz-UZ" sz="1200" dirty="0">
                <a:solidFill>
                  <a:srgbClr val="8A93B8"/>
                </a:solidFill>
                <a:latin typeface="Times New Roman"/>
                <a:ea typeface="Times New Roman"/>
                <a:cs typeface="Times New Roman"/>
              </a:rPr>
              <a:t xml:space="preserve"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age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hanks"/>
          <p:cNvSpPr txBox="1"/>
          <p:nvPr/>
        </p:nvSpPr>
        <p:spPr>
          <a:xfrm>
            <a:off x="0" y="2103120"/>
            <a:ext cx="12191695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uz-UZ" sz="40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 xml:space="preserve">E'tiboringiz uchun rahmat!</a:t>
            </a:r>
          </a:p>
        </p:txBody>
      </p:sp>
      <p:sp>
        <p:nvSpPr>
          <p:cNvPr id="4" name="Divider"/>
          <p:cNvSpPr/>
          <p:nvPr/>
        </p:nvSpPr>
        <p:spPr>
          <a:xfrm>
            <a:off x="5364785" y="3218688"/>
            <a:ext cx="146304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uz-UZ"/>
          </a:p>
        </p:txBody>
      </p:sp>
      <p:sp>
        <p:nvSpPr>
          <p:cNvPr id="5" name="Details"/>
          <p:cNvSpPr txBox="1"/>
          <p:nvPr/>
        </p:nvSpPr>
        <p:spPr>
          <a:xfrm>
            <a:off x="1524305" y="3611880"/>
            <a:ext cx="9144000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lnSpc>
                <a:spcPct val="110000"/>
              </a:lnSpc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Mavzu: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Simsiz aloqa: Wi-Fi, Bluetooth va 5G fizikasi</a:t>
            </a:r>
          </a:p>
          <a:p>
            <a:pPr algn="ctr">
              <a:lnSpc>
                <a:spcPct val="110000"/>
              </a:lnSpc>
              <a:spcBef>
                <a:spcPts val="900"/>
              </a:spcBef>
              <a:buNone/>
            </a:pPr>
            <a:r>
              <a:rPr lang="uz-UZ" sz="1600" b="1" dirty="0">
                <a:solidFill>
                  <a:srgbClr val="6FE3FF"/>
                </a:solidFill>
                <a:latin typeface="Times New Roman"/>
                <a:ea typeface="Times New Roman"/>
                <a:cs typeface="Times New Roman"/>
              </a:rPr>
              <a:t xml:space="preserve">Taqdimotchi: </a:t>
            </a: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Toshboʻriyeva Marjona (242_26 - guruh)</a:t>
            </a:r>
          </a:p>
          <a:p>
            <a:pPr algn="ctr">
              <a:lnSpc>
                <a:spcPct val="110000"/>
              </a:lnSpc>
              <a:spcBef>
                <a:spcPts val="900"/>
              </a:spcBef>
              <a:buNone/>
            </a:pPr>
            <a:r>
              <a:rPr lang="uz-UZ" sz="1600" dirty="0">
                <a:solidFill>
                  <a:srgbClr val="DCE3F5"/>
                </a:solidFill>
                <a:latin typeface="Times New Roman"/>
                <a:ea typeface="Times New Roman"/>
                <a:cs typeface="Times New Roman"/>
              </a:rPr>
              <a:t xml:space="preserve">Jizzax davlat pedagogika universiteti - Axborot tizimlari fani.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DPU Cyber">
  <a:themeElements>
    <a:clrScheme name="Cyber">
      <a:dk1>
        <a:srgbClr val="0B1026"/>
      </a:dk1>
      <a:lt1>
        <a:srgbClr val="FFFFFF"/>
      </a:lt1>
      <a:dk2>
        <a:srgbClr val="141B3D"/>
      </a:dk2>
      <a:lt2>
        <a:srgbClr val="DCE3F5"/>
      </a:lt2>
      <a:accent1>
        <a:srgbClr val="22D3EE"/>
      </a:accent1>
      <a:accent2>
        <a:srgbClr val="7C6CFF"/>
      </a:accent2>
      <a:accent3>
        <a:srgbClr val="FFD166"/>
      </a:accent3>
      <a:accent4>
        <a:srgbClr val="4ADE80"/>
      </a:accent4>
      <a:accent5>
        <a:srgbClr val="F472B6"/>
      </a:accent5>
      <a:accent6>
        <a:srgbClr val="60A5FA"/>
      </a:accent6>
      <a:hlink>
        <a:srgbClr val="6FE3FF"/>
      </a:hlink>
      <a:folHlink>
        <a:srgbClr val="A78BFA"/>
      </a:folHlink>
    </a:clrScheme>
    <a:fontScheme name="TN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Kiro Presentation Generator</Application>
  <PresentationFormat>16:9</PresentationFormat>
  <Paragraphs>0</Paragraphs>
  <Slides>10</Slides>
  <Notes>0</Notes>
  <HiddenSlides>0</HiddenSlides>
  <MMClips>0</MMClips>
  <ScaleCrop>false</ScaleCrop>
  <Company>JDPU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Simsiz aloqa va elektromagnit to'lqinlar: Wi-Fi, Bluetooth va 5G texnologiyalarining jismoniy asoslari</dc:title>
  <dc:creator>Toshboʻriyeva Marjona</dc:creator>
  <cp:lastModifiedBy>Kiro</cp:lastModifiedBy>
  <dcterms:created xsi:type="dcterms:W3CDTF">2026-10-18T00:00:00Z</dcterms:created>
  <dcterms:modified xsi:type="dcterms:W3CDTF">2026-10-18T00:00:00Z</dcterms:modified>
</cp:coreProperties>
</file>