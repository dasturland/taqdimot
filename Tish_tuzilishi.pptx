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2E45"/>
            </a:gs>
            <a:gs pos="100000">
              <a:srgbClr val="071B29"/>
            </a:gs>
          </a:gsLst>
          <a:lin ang="6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img"/>
          <p:cNvPicPr/>
          <p:nvPr/>
        </p:nvPicPr>
        <p:blipFill>
          <a:blip r:embed="rId2"/>
          <a:srcRect t="3043" b="3043"/>
          <a:stretch>
            <a:fillRect/>
          </a:stretch>
        </p:blipFill>
        <p:spPr>
          <a:xfrm>
            <a:off x="6350000" y="0"/>
            <a:ext cx="5842000" cy="6858000"/>
          </a:xfrm>
          <a:prstGeom prst="rect">
            <a:avLst/>
          </a:prstGeom>
          <a:ln>
            <a:noFill/>
          </a:ln>
        </p:spPr>
      </p:pic>
      <p:sp>
        <p:nvSpPr>
          <p:cNvPr id="3" name="cover-overlay"/>
          <p:cNvSpPr/>
          <p:nvPr/>
        </p:nvSpPr>
        <p:spPr>
          <a:xfrm>
            <a:off x="6350000" y="0"/>
            <a:ext cx="5842000" cy="6858000"/>
          </a:xfrm>
          <a:prstGeom prst="rect">
            <a:avLst/>
          </a:prstGeom>
          <a:gradFill rotWithShape="1">
            <a:gsLst>
              <a:gs pos="0">
                <a:srgbClr val="0A2E45">
                  <a:alpha val="94902"/>
                </a:srgbClr>
              </a:gs>
              <a:gs pos="45000">
                <a:srgbClr val="0A2E45">
                  <a:alpha val="40000"/>
                </a:srgbClr>
              </a:gs>
              <a:gs pos="100000">
                <a:srgbClr val="0A2E45">
                  <a:alpha val="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cover-kicker"/>
          <p:cNvSpPr txBox="1"/>
          <p:nvPr/>
        </p:nvSpPr>
        <p:spPr>
          <a:xfrm>
            <a:off x="812800" y="11684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8FD6DA"/>
                </a:solidFill>
                <a:latin typeface="Times New Roman"/>
                <a:ea typeface="Times New Roman"/>
              </a:rPr>
              <a:t>TOSHKENT DAVLAT TIBBIYOT INSTITUTI</a:t>
            </a:r>
            <a:endParaRPr lang="en-US" sz="1200" noProof="1"/>
          </a:p>
        </p:txBody>
      </p:sp>
      <p:sp>
        <p:nvSpPr>
          <p:cNvPr id="5" name="cover-title"/>
          <p:cNvSpPr txBox="1"/>
          <p:nvPr/>
        </p:nvSpPr>
        <p:spPr>
          <a:xfrm>
            <a:off x="812800" y="1574800"/>
            <a:ext cx="5461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4000" b="1" noProof="1">
                <a:solidFill>
                  <a:srgbClr val="FFFFFF"/>
                </a:solidFill>
                <a:latin typeface="Times New Roman"/>
                <a:ea typeface="Times New Roman"/>
              </a:rPr>
              <a:t>Tish tuzilishi: pulpa va periodont</a:t>
            </a:r>
            <a:endParaRPr lang="en-US" sz="4000" noProof="1"/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lang="uz-Latn-UZ" sz="2000" b="1" i="1" noProof="1">
                <a:solidFill>
                  <a:srgbClr val="8FD6DA"/>
                </a:solidFill>
                <a:latin typeface="Times New Roman"/>
                <a:ea typeface="Times New Roman"/>
              </a:rPr>
              <a:t>G</a:t>
            </a:r>
            <a:r>
              <a:rPr lang="en-US" sz="2000" b="1" i="1" noProof="1" smtClean="0">
                <a:solidFill>
                  <a:srgbClr val="8FD6DA"/>
                </a:solidFill>
                <a:latin typeface="Times New Roman"/>
                <a:ea typeface="Times New Roman"/>
              </a:rPr>
              <a:t>istologiya</a:t>
            </a:r>
            <a:endParaRPr lang="en-US" sz="4000" noProof="1"/>
          </a:p>
        </p:txBody>
      </p:sp>
      <p:sp>
        <p:nvSpPr>
          <p:cNvPr id="6" name="cover-rule"/>
          <p:cNvSpPr/>
          <p:nvPr/>
        </p:nvSpPr>
        <p:spPr>
          <a:xfrm>
            <a:off x="812800" y="37084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7" name="cover-info"/>
          <p:cNvSpPr txBox="1"/>
          <p:nvPr/>
        </p:nvSpPr>
        <p:spPr>
          <a:xfrm>
            <a:off x="812800" y="4089400"/>
            <a:ext cx="5334000" cy="25295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8FD6DA"/>
                </a:solidFill>
                <a:latin typeface="Times New Roman"/>
                <a:ea typeface="Times New Roman"/>
              </a:rPr>
              <a:t>FAKULTET</a:t>
            </a:r>
            <a:endParaRPr lang="en-US" sz="1600" noProof="1"/>
          </a:p>
          <a:p>
            <a:pPr>
              <a:lnSpc>
                <a:spcPct val="140000"/>
              </a:lnSpc>
            </a:pPr>
            <a:r>
              <a:rPr lang="en-US" sz="1600" noProof="1">
                <a:solidFill>
                  <a:srgbClr val="E8F1F5"/>
                </a:solidFill>
                <a:latin typeface="Times New Roman"/>
                <a:ea typeface="Times New Roman"/>
              </a:rPr>
              <a:t>Davolash ishi</a:t>
            </a:r>
            <a:endParaRPr lang="en-US" sz="1600" noProof="1"/>
          </a:p>
          <a:p>
            <a:pPr>
              <a:lnSpc>
                <a:spcPct val="140000"/>
              </a:lnSpc>
              <a:spcBef>
                <a:spcPts val="1400"/>
              </a:spcBef>
            </a:pPr>
            <a:r>
              <a:rPr lang="en-US" sz="1200" noProof="1">
                <a:solidFill>
                  <a:srgbClr val="8FD6DA"/>
                </a:solidFill>
                <a:latin typeface="Times New Roman"/>
                <a:ea typeface="Times New Roman"/>
              </a:rPr>
              <a:t>GURUH</a:t>
            </a:r>
            <a:endParaRPr lang="en-US" sz="1600" noProof="1"/>
          </a:p>
          <a:p>
            <a:pPr>
              <a:lnSpc>
                <a:spcPct val="140000"/>
              </a:lnSpc>
            </a:pPr>
            <a:r>
              <a:rPr lang="en-US" sz="1600" noProof="1">
                <a:solidFill>
                  <a:srgbClr val="E8F1F5"/>
                </a:solidFill>
                <a:latin typeface="Times New Roman"/>
                <a:ea typeface="Times New Roman"/>
              </a:rPr>
              <a:t>214/B guruh</a:t>
            </a:r>
            <a:endParaRPr lang="en-US" sz="1600" noProof="1"/>
          </a:p>
          <a:p>
            <a:pPr>
              <a:lnSpc>
                <a:spcPct val="140000"/>
              </a:lnSpc>
              <a:spcBef>
                <a:spcPts val="1400"/>
              </a:spcBef>
            </a:pPr>
            <a:r>
              <a:rPr lang="en-US" sz="1200" noProof="1" smtClean="0">
                <a:solidFill>
                  <a:srgbClr val="8FD6DA"/>
                </a:solidFill>
                <a:latin typeface="Times New Roman"/>
                <a:ea typeface="Times New Roman"/>
              </a:rPr>
              <a:t>BAJARDI</a:t>
            </a:r>
            <a:r>
              <a:rPr lang="uz-Latn-UZ" sz="1200" noProof="1">
                <a:solidFill>
                  <a:srgbClr val="8FD6DA"/>
                </a:solidFill>
                <a:latin typeface="Times New Roman"/>
                <a:ea typeface="Times New Roman"/>
              </a:rPr>
              <a:t>	</a:t>
            </a:r>
            <a:endParaRPr lang="uz-Latn-UZ" sz="1200" noProof="1" smtClean="0">
              <a:solidFill>
                <a:srgbClr val="8FD6DA"/>
              </a:solidFill>
              <a:latin typeface="Times New Roman"/>
              <a:ea typeface="Times New Roman"/>
            </a:endParaRPr>
          </a:p>
          <a:p>
            <a:pPr>
              <a:lnSpc>
                <a:spcPct val="140000"/>
              </a:lnSpc>
              <a:spcBef>
                <a:spcPts val="1400"/>
              </a:spcBef>
            </a:pPr>
            <a:r>
              <a:rPr lang="en-US" noProof="1" smtClean="0">
                <a:solidFill>
                  <a:srgbClr val="E8F1F5"/>
                </a:solidFill>
                <a:latin typeface="Times New Roman"/>
                <a:ea typeface="Times New Roman"/>
              </a:rPr>
              <a:t>Karimova Munisa</a:t>
            </a:r>
            <a:r>
              <a:rPr lang="uz-Latn-UZ" noProof="1" smtClean="0">
                <a:solidFill>
                  <a:srgbClr val="E8F1F5"/>
                </a:solidFill>
                <a:latin typeface="Times New Roman"/>
                <a:ea typeface="Times New Roman"/>
              </a:rPr>
              <a:t> va Mardonov Shohrux</a:t>
            </a:r>
            <a:r>
              <a:rPr lang="uz-Latn-UZ" sz="1600" noProof="1" smtClean="0">
                <a:solidFill>
                  <a:srgbClr val="E8F1F5"/>
                </a:solidFill>
                <a:latin typeface="Times New Roman"/>
                <a:ea typeface="Times New Roman"/>
              </a:rPr>
              <a:t/>
            </a:r>
            <a:br>
              <a:rPr lang="uz-Latn-UZ" sz="1600" noProof="1" smtClean="0">
                <a:solidFill>
                  <a:srgbClr val="E8F1F5"/>
                </a:solidFill>
                <a:latin typeface="Times New Roman"/>
                <a:ea typeface="Times New Roman"/>
              </a:rPr>
            </a:br>
            <a:r>
              <a:rPr lang="uz-Latn-UZ" sz="1600" noProof="1" smtClean="0">
                <a:solidFill>
                  <a:srgbClr val="E8F1F5"/>
                </a:solidFill>
                <a:latin typeface="Times New Roman"/>
                <a:ea typeface="Times New Roman"/>
              </a:rPr>
              <a:t> </a:t>
            </a:r>
            <a:endParaRPr lang="en-US" sz="16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KIRISH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Tishning umumiy anatomiyasi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Tish — organizmdagi eng qattiq organ bo'lib, anatomik jihatdan </a:t>
            </a:r>
            <a:endParaRPr lang="en-US" sz="1500" noProof="1"/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uch qismdan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iborat: toj (korona) — milk ustida ko'rinadigan qism, bo'yin (serviks) — toj va ildiz chegarasi, ildiz (radiks) — suyak ichidagi qism.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700"/>
              </a:spcBef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Qattiq to'qimalar: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Emal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tojini qoplovchi, tanadagi eng qattiq to'qima (≈96% mineral); hujayrasiz, sezgisiz va regeneratsiyalanmaydi;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Dentin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tishning asosiy massasi; naychali, sariq rangli, sezgir va umr bo'yi hosil bo'luvchi tirik to'qima;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Sement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sirtini qoplovchi suyaksimon to'qima; periodontal boylam tolalarini ildizga mahkamlaydi.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700"/>
              </a:spcBef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Yumshoq to'qimalar: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bo'shlig'idagi tomir va nervlarga boy hayotiy to'qima; tishni oziqlantiradi va sezuvchanlik beradi;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tishni alveolada mahkam ushlab turuvchi tayanch to'qimalar majmui: milk, boylam, sement va alveolyar suyak.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700"/>
              </a:spcBef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Toj, bo'yin va ildizning o'zaro muvozanati tishning mustahkamligi va umrini belgilaydi.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22090" b="-22090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Tishning makroanatomik kesimi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02 / 15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 haqida umumiy tushuncha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bo'shlig'ini (cavitas dentis) to'ldiruvchi, tomir va nervlarga boy yumshoq biriktiruvchi to'qima; dentin bilan birgalikda yagona </a:t>
            </a:r>
            <a:endParaRPr lang="en-US" sz="1500" noProof="1"/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pulpa-dentin kompleksini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tashkil etadi.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Koronal pulpa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tojidagi pulpa kamerasini to'ldiradi; pulpa shoxlari (rogalari) dentin do'ngliklariga qarab cho'ziladi;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Radikulyar pulpa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kanallari ichida joylashgan nisbatan tor qism; yoshga qarab torayib boradi;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Apikal teshik (foramen apicale)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uchidagi teshik; tomir va nervlar shu orqali kirib-chiqadi;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Qo'shimcha (aksessuar) kanallar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yon devorlaridagi mayda kanallar; infeksiya tarqalishida ahamiyatli;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 toshlari (dentikullar)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yoshga yoki ta'sirga javoban hosil bo'luvchi kalsiylashgan tuzilmalar;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Pulpa apikal teshik orqali periodont bilan uzviy bog'lanadi — shu bois ularning kasalliklari o'zaro ta'sir qiladi.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21730" b="-21730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Pulpa kamerasi, ildiz kanallari va apikal teshik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03 / 15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gistologik tuzilishi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Periferiyadan markazga qarab pulpa </a:t>
            </a:r>
            <a:endParaRPr lang="en-US" sz="1500" noProof="1"/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to'rt zonaga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ajratiladi; har bir zona o'ziga xos hujayra va tola tarkibiga ega: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Odontoblastlar qatlami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dentinga tutash eng tashqi qatlam; dentin hosil qiluvchi hujayralar yadrolari zich joylashgan;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Veylning hujayrasiz zonasi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hujayralardan deyarli xoli, nerv tolalari va kapillyarlarga boy oraliq qatlam;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Hujayralarga boy zona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fibroblastlar, differensiallanmagan hujayralar va kapillyarlar to'plangan qatlam;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Pulpa yadrosi (markaziy zona)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yirik qon tomirlar va nerv tutamlari o'tadigan markaziy qism.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Odontoblast o'simtalari dentin naychalariga kirib, pulpa va dentin o'rtasida yagona funksional aloqa — pulpa-dentin kompleksini ta'minlaydi.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Yosh o'tgan sari pulpa hajmi kamayib, tola miqdori ortadi va regeneratsiya qobiliyati pasayadi.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7461" b="-7461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Pulpaning to'rt gistologik zonasi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04 / 15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hujayralari va tolalari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Asosiy hujayralar: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Odontoblastlar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dentin hosil qiladi; o'simtasi dentin naychasiga kiradi va sezuvchanlikda ishtirok etadi;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Fibroblastlar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eng ko'p uchraydigan hujayra; kollagen va asosiy modda sintez qilib pulpa karkasini yangilaydi;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Differensiallanmagan mezenximal hujayralar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zaxira (kambial) hujayralar; shikastda yangi odontoblastlarga aylanadi;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Immun hujayralar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makrofaglar, dendrit hujayralar va limfotsitlar; himoya va yallig'lanish javobini beradi.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700"/>
              </a:spcBef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Hujayralararo matritsa: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I va III tip kollagen tolalar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pulpa karkasini tashkil etadi;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Glikozaminoglikanlarga boy gel-asos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hujayra va tomirlar uchun tayanch hamda modda almashinuvi muhiti.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68250" b="-68250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Odontoblast va uning dentin naychasidagi o'simtasi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05 / 15</a:t>
            </a:r>
            <a:endParaRPr lang="en-US" sz="11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qon ta'minoti va innervatsiyasi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Qon ta'minoti: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Arteriolalar apikal teshikdan kirib, pulpada boy kapillyar tarmoq (pleksus) hosil qiladi; venulalar qon va metabolitlarni chiqaradi;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Pulpa yopiq, cho'zilmaydigan bo'shliqda joylashgani sababli shish paytida bosim tez ko'tariladi — og'riq kuchayadi va qon aylanishi buziladi;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700"/>
              </a:spcBef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Innervatsiya: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Uch shoxli nerv (n. trigeminus) tarmoqlari pulpa periferiyasida </a:t>
            </a:r>
            <a:endParaRPr lang="en-US" sz="1500" noProof="1"/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Raschkow nerv to'rini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hosil qiladi;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A-delta tolalar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(miyelinli) — o'tkir, qisqa va aniq lokalizatsiyali og'riqni uzatadi;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C tolalar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(miyelinsiz) — sust, tarqoq va uzoq davom etuvchi chuqur og'riqni uzatadi;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Pulpa ta'sir turidan qat'i nazar har qanday qo'zg'alishni asosan og'riq sifatida qabul qiladi.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13005" b="-13005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Pulpadagi tomir va nerv tarmoqlari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06 / 15</a:t>
            </a:r>
            <a:endParaRPr lang="en-US" sz="11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PULPA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Pulpaning asosiy funksiyalari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eyJpY29uTmFtZSI6ImZhczp0b290aCJ9</pptd:icon>
              </p:ext>
            </p:extLst>
          </p:nvPr>
        </p:nvSpPr>
        <p:spPr>
          <a:xfrm>
            <a:off x="8128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6" name="f1-head"/>
          <p:cNvSpPr txBox="1"/>
          <p:nvPr/>
        </p:nvSpPr>
        <p:spPr>
          <a:xfrm>
            <a:off x="1422400" y="17526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Formativ (hosil qiluvchi)</a:t>
            </a:r>
            <a:endParaRPr lang="en-US" sz="1800" noProof="1"/>
          </a:p>
        </p:txBody>
      </p:sp>
      <p:sp>
        <p:nvSpPr>
          <p:cNvPr id="7" name="f1-desc"/>
          <p:cNvSpPr txBox="1"/>
          <p:nvPr/>
        </p:nvSpPr>
        <p:spPr>
          <a:xfrm>
            <a:off x="1422400" y="21082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Odontoblastlar birlamchi (rivojlanishdagi), ikkilamchi (umr bo'yi doimiy) va uchlamchi — reparativ dentin ishlab chiqaradi; ta'sirga javoban yangi dentin qatlami hosil qilib pulpani himoyalaydi.</a:t>
            </a:r>
            <a:endParaRPr lang="en-US" sz="1500" noProof="1"/>
          </a:p>
        </p:txBody>
      </p:sp>
      <p:sp>
        <p:nvSpPr>
          <p:cNvPr id="8" name="f1-line"/>
          <p:cNvSpPr/>
          <p:nvPr/>
        </p:nvSpPr>
        <p:spPr>
          <a:xfrm>
            <a:off x="812800" y="28702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9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eyJpY29uTmFtZSI6ImZhczpkcm9wbGV0In0</pptd:icon>
              </p:ext>
            </p:extLst>
          </p:nvPr>
        </p:nvSpPr>
        <p:spPr>
          <a:xfrm>
            <a:off x="812800" y="3124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92" y="512"/>
                </a:moveTo>
                <a:cubicBezTo>
                  <a:pt x="86" y="512"/>
                  <a:pt x="0" y="426"/>
                  <a:pt x="0" y="320"/>
                </a:cubicBezTo>
                <a:cubicBezTo>
                  <a:pt x="0" y="229"/>
                  <a:pt x="130" y="46"/>
                  <a:pt x="167" y="-3"/>
                </a:cubicBezTo>
                <a:cubicBezTo>
                  <a:pt x="173" y="-11"/>
                  <a:pt x="182" y="-16"/>
                  <a:pt x="192" y="-16"/>
                </a:cubicBezTo>
                <a:lnTo>
                  <a:pt x="192" y="-16"/>
                </a:lnTo>
                <a:cubicBezTo>
                  <a:pt x="202" y="-16"/>
                  <a:pt x="212" y="-11"/>
                  <a:pt x="217" y="-3"/>
                </a:cubicBezTo>
                <a:cubicBezTo>
                  <a:pt x="254" y="46"/>
                  <a:pt x="384" y="229"/>
                  <a:pt x="384" y="320"/>
                </a:cubicBezTo>
                <a:cubicBezTo>
                  <a:pt x="384" y="426"/>
                  <a:pt x="298" y="512"/>
                  <a:pt x="192" y="512"/>
                </a:cubicBezTo>
                <a:close/>
                <a:moveTo>
                  <a:pt x="112" y="312"/>
                </a:moveTo>
                <a:cubicBezTo>
                  <a:pt x="112" y="299"/>
                  <a:pt x="101" y="288"/>
                  <a:pt x="88" y="288"/>
                </a:cubicBezTo>
                <a:cubicBezTo>
                  <a:pt x="75" y="288"/>
                  <a:pt x="64" y="299"/>
                  <a:pt x="64" y="312"/>
                </a:cubicBezTo>
                <a:cubicBezTo>
                  <a:pt x="64" y="387"/>
                  <a:pt x="125" y="448"/>
                  <a:pt x="200" y="448"/>
                </a:cubicBezTo>
                <a:cubicBezTo>
                  <a:pt x="213" y="448"/>
                  <a:pt x="224" y="437"/>
                  <a:pt x="224" y="424"/>
                </a:cubicBezTo>
                <a:cubicBezTo>
                  <a:pt x="224" y="411"/>
                  <a:pt x="213" y="400"/>
                  <a:pt x="200" y="400"/>
                </a:cubicBezTo>
                <a:cubicBezTo>
                  <a:pt x="151" y="400"/>
                  <a:pt x="112" y="361"/>
                  <a:pt x="112" y="312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0" name="f2-head"/>
          <p:cNvSpPr txBox="1"/>
          <p:nvPr/>
        </p:nvSpPr>
        <p:spPr>
          <a:xfrm>
            <a:off x="1422400" y="30988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Nutritiv (ozuqaviy)</a:t>
            </a:r>
            <a:endParaRPr lang="en-US" sz="1800" noProof="1"/>
          </a:p>
        </p:txBody>
      </p:sp>
      <p:sp>
        <p:nvSpPr>
          <p:cNvPr id="11" name="f2-desc"/>
          <p:cNvSpPr txBox="1"/>
          <p:nvPr/>
        </p:nvSpPr>
        <p:spPr>
          <a:xfrm>
            <a:off x="1422400" y="34544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Pulpa tomirlari dentinni namlik, kislorod va oziq moddalar bilan ta'minlaydi; shu tufayli dentin "tirik" to'qima bo'lib qoladi va mo'rtlashmaydi.</a:t>
            </a:r>
            <a:endParaRPr lang="en-US" sz="1500" noProof="1"/>
          </a:p>
        </p:txBody>
      </p:sp>
      <p:sp>
        <p:nvSpPr>
          <p:cNvPr id="12" name="f2-line"/>
          <p:cNvSpPr/>
          <p:nvPr/>
        </p:nvSpPr>
        <p:spPr>
          <a:xfrm>
            <a:off x="812800" y="42164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3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eyJpY29uTmFtZSI6ImZhczpib2x0In0</pptd:icon>
              </p:ext>
            </p:extLst>
          </p:nvPr>
        </p:nvSpPr>
        <p:spPr>
          <a:xfrm>
            <a:off x="812800" y="4470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339" y="-10"/>
                </a:moveTo>
                <a:cubicBezTo>
                  <a:pt x="351" y="-1"/>
                  <a:pt x="355" y="14"/>
                  <a:pt x="350" y="28"/>
                </a:cubicBezTo>
                <a:lnTo>
                  <a:pt x="271" y="224"/>
                </a:lnTo>
                <a:lnTo>
                  <a:pt x="416" y="224"/>
                </a:lnTo>
                <a:cubicBezTo>
                  <a:pt x="430" y="224"/>
                  <a:pt x="442" y="232"/>
                  <a:pt x="446" y="245"/>
                </a:cubicBezTo>
                <a:cubicBezTo>
                  <a:pt x="451" y="258"/>
                  <a:pt x="447" y="272"/>
                  <a:pt x="437" y="281"/>
                </a:cubicBezTo>
                <a:lnTo>
                  <a:pt x="149" y="521"/>
                </a:lnTo>
                <a:cubicBezTo>
                  <a:pt x="137" y="530"/>
                  <a:pt x="121" y="531"/>
                  <a:pt x="109" y="522"/>
                </a:cubicBezTo>
                <a:cubicBezTo>
                  <a:pt x="97" y="513"/>
                  <a:pt x="93" y="498"/>
                  <a:pt x="98" y="484"/>
                </a:cubicBezTo>
                <a:lnTo>
                  <a:pt x="177" y="288"/>
                </a:lnTo>
                <a:lnTo>
                  <a:pt x="32" y="288"/>
                </a:lnTo>
                <a:cubicBezTo>
                  <a:pt x="19" y="288"/>
                  <a:pt x="7" y="280"/>
                  <a:pt x="2" y="267"/>
                </a:cubicBezTo>
                <a:cubicBezTo>
                  <a:pt x="-3" y="254"/>
                  <a:pt x="1" y="240"/>
                  <a:pt x="11" y="231"/>
                </a:cubicBezTo>
                <a:lnTo>
                  <a:pt x="300" y="-9"/>
                </a:lnTo>
                <a:cubicBezTo>
                  <a:pt x="311" y="-18"/>
                  <a:pt x="327" y="-19"/>
                  <a:pt x="339" y="-10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4" name="f3-head"/>
          <p:cNvSpPr txBox="1"/>
          <p:nvPr/>
        </p:nvSpPr>
        <p:spPr>
          <a:xfrm>
            <a:off x="1422400" y="44450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Sensor (sezuvchan)</a:t>
            </a:r>
            <a:endParaRPr lang="en-US" sz="1800" noProof="1"/>
          </a:p>
        </p:txBody>
      </p:sp>
      <p:sp>
        <p:nvSpPr>
          <p:cNvPr id="15" name="f3-desc"/>
          <p:cNvSpPr txBox="1"/>
          <p:nvPr/>
        </p:nvSpPr>
        <p:spPr>
          <a:xfrm>
            <a:off x="1422400" y="48006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Harorat, mexanik va kimyoviy ta'sirlarni qabul qilib markaziy nerv tizimiga uzatadi; pulpa ta'sir turidan qat'i nazar deyarli barcha qo'zg'alishni og'riq sifatida sezadi.</a:t>
            </a:r>
            <a:endParaRPr lang="en-US" sz="1500" noProof="1"/>
          </a:p>
        </p:txBody>
      </p:sp>
      <p:sp>
        <p:nvSpPr>
          <p:cNvPr id="16" name="f3-line"/>
          <p:cNvSpPr/>
          <p:nvPr/>
        </p:nvSpPr>
        <p:spPr>
          <a:xfrm>
            <a:off x="812800" y="55626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7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812800" y="5816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8" name="f4-head"/>
          <p:cNvSpPr txBox="1"/>
          <p:nvPr/>
        </p:nvSpPr>
        <p:spPr>
          <a:xfrm>
            <a:off x="1422400" y="57912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Himoya (defensiv)</a:t>
            </a:r>
            <a:endParaRPr lang="en-US" sz="1800" noProof="1"/>
          </a:p>
        </p:txBody>
      </p:sp>
      <p:sp>
        <p:nvSpPr>
          <p:cNvPr id="19" name="f4-desc"/>
          <p:cNvSpPr txBox="1"/>
          <p:nvPr/>
        </p:nvSpPr>
        <p:spPr>
          <a:xfrm>
            <a:off x="1422400" y="61468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Makrofag va limfotsitlar orqali infeksiyaga immun javob beradi; reparativ dentin va yallig'lanish bilan zararlangan hududni chegaralab, pulpani asraydi.</a:t>
            </a:r>
            <a:endParaRPr lang="en-US" sz="1500" noProof="1"/>
          </a:p>
        </p:txBody>
      </p:sp>
      <p:sp>
        <p:nvSpPr>
          <p:cNvPr id="20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07 / 15</a:t>
            </a:r>
            <a:endParaRPr lang="en-US" sz="11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 haqida umumiy tushuncha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tishni atrofdan o'rab turuvchi va uni alveolada mahkamlab turuvchi maxsus to'qimalar majmui; tishning </a:t>
            </a:r>
            <a:endParaRPr lang="en-US" sz="1500" noProof="1"/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tayanch apparati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(periodontal kompleks) deb ham ataladi.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700"/>
              </a:spcBef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To'rt asosiy komponent: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Milk (gingiva)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alveolyar o'siq va tish bo'ynini qoplovchi shilliq qavat; tashqi himoya to'sig'i;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Periodontal boylam (PDL)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sementni alveolyar suyak bilan bog'lovchi kollagen tolalar; amortizator;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Tish sementi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sirtini qoplovchi qattiq to'qima; boylam tolalari uchun biriktirgich;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suyak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uchun chuqurcha (alveola) hosil qiluvchi jag' suyagi qismi.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7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Bu komponentlar birgalikda chaynash bosimini qabul qiladi, taqsimlaydi va tishni mahkam ushlab turadi.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10577" b="10577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Tishni o'rab turuvchi tayanch to'qimalar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08 / 15</a:t>
            </a:r>
            <a:endParaRPr lang="en-US" sz="11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Milk — gingiva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Milk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alveolyar o'siq va tish bo'ynini qoplovchi shilliq qavat qismi; sog'lom milk pushti rangli, zich va qon ketmaydigan bo'ladi. U uch qismga bo'linadi: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Erkin (marjinal) milk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atrofida erkin joylashgan chekka qism; taxminan 1 mm kenglikda;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Birikkan milk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alveolyar suyakka mahkam yopishgan, donador ("apelsin po'sti") yuzali qism;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Tishlararo papilla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qo'shni tishlar orasidagi uchburchak shaklli qism; bo'shliqni to'ldiradi;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Milk tirqishi (sulcus gingivalis)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bilan milk orasidagi sayoz yoriq; normada chuqurligi 1–3 mm;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Milk shilliq qavati epiteliy va biriktiruvchi to'qimadan iborat bo'lib, mikroblar va mexanik ta'sirga qarshi birinchi to'siq vazifasini bajaradi.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l="3529" r="3529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Sog'lom milkning klinik ko'rinishi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09 / 15</a:t>
            </a:r>
            <a:endParaRPr lang="en-US" sz="110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Periodontal boylam (PDL)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Periodontal boylam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sementini alveolyar suyak bilan bog'lovchi, qalinligi ≈0,2 mm bo'lgan kollagen tolalar to'plami. Tolalarning sement va suyak ichiga kiruvchi uchlari </a:t>
            </a:r>
            <a:endParaRPr lang="en-US" sz="1500" noProof="1"/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Sharpey tolalari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deyiladi.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Asosiy tolalar guruhlari: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tepalik tolalari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tish bo'ynidan alveola tepaligiga yo'nalgan;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Gorizontal tolalar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ildizga tik (gorizontal) joylashgan;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Qiyshiq (oblik) tolalar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eng ko'p va kuchli guruh; vertikal chaynash bosimini tortish kuchiga aylantiradi;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Apikal va ildizlararo tolalar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uchi va bifurkatsiya hududida; tishni siljishdan saqlaydi.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Boylamda tomir, nerv va hujayralar ham bo'lib, ular oziqlantirish, sezish va to'qima yangilanishini ta'minlaydi.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20973" b="-20973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Periodontal boylam kollagen tolalari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10 / 15</a:t>
            </a:r>
            <a:endParaRPr lang="en-US" sz="11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Tish sementi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Sement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 sirtini qoplovchi avaskulyar (tomirsiz) qattiq to'qima; tuzilishi suyakka o'xshaydi, biroq tomir va nervi yo'q, shuning uchun og'riq sezmaydi.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6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Hujayrasiz (birlamchi) sement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ildizning servikal (bo'yin) qismini qoplaydi; sekin, qatlam-qatlam hosil bo'ladi;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Hujayrali (ikkilamchi) sement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apikal uchdan birda joylashgan; o'z ichida sementotsitlarni saqlaydi;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Sement-emal chegarasi (CEJ)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toj emali va ildiz sementi uchrashadigan chiziq; periodont kasalliklarida muhim mezon;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Sement og'riq sezmaydi, lekin ildiz ochilganda dentin orqali sezuvchanlik paydo bo'ladi;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Sement hayot davomida uzluksiz appozitsiya bilan ortib boradi va boylam tolalarining doimiy biriktirilishini ta'minlaydi.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3684" b="-3684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Sement-emal chegarasi (CEJ)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11 / 15</a:t>
            </a:r>
            <a:endParaRPr lang="en-US" sz="11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Alveolyar suyak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body"/>
          <p:cNvSpPr txBox="1"/>
          <p:nvPr/>
        </p:nvSpPr>
        <p:spPr>
          <a:xfrm>
            <a:off x="812800" y="1524000"/>
            <a:ext cx="603504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o'siq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yuqori va pastki jag'ning tish ildizlarini o'rab turuvchi qismi; faqat tishlar mavjud bo'lgandagina to'liq rivojlanadi;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Lamina dura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rentgenda alveola devori bo'ylab ko'rinuvchi zich oq chiziq; uning uzilishi patologiya belgisi;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Alveolyar tepalik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qo'shni tishlar orasidagi suyak cho'qqisi; normada CEJ dan 1–2 mm pastda joylashadi;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G'ovak (spongioz) va kompakt suyak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ichki g'ovak qism tomirlarga boy, tashqi qavat zich va mustahkam;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b="1" noProof="1">
                <a:solidFill>
                  <a:srgbClr val="22303A"/>
                </a:solidFill>
                <a:latin typeface="Times New Roman"/>
                <a:ea typeface="Times New Roman"/>
              </a:rPr>
              <a:t>Suyak remodelirovkasi</a:t>
            </a:r>
            <a:endParaRPr lang="en-US" sz="1500" noProof="1"/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 — osteoblast va osteoklastlar yuklamaga qarab suyakni doimiy yangilab turadi;</a:t>
            </a:r>
            <a:endParaRPr lang="en-US" sz="1500" noProof="1"/>
          </a:p>
          <a:p>
            <a:pPr>
              <a:lnSpc>
                <a:spcPct val="128000"/>
              </a:lnSpc>
              <a:spcBef>
                <a:spcPts val="300"/>
              </a:spcBef>
              <a:buChar char="•"/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Alveolyar suyak tish mavjudligiga bog'liq: tish olingach asta-sekin rezorbsiyaga uchraydi — shuning uchun implantni kechiktirmaslik muhim.</a:t>
            </a:r>
            <a:endParaRPr lang="en-US" sz="1500" noProof="1"/>
          </a:p>
        </p:txBody>
      </p:sp>
      <p:pic>
        <p:nvPicPr>
          <p:cNvPr id="6" name="img"/>
          <p:cNvPicPr/>
          <p:nvPr/>
        </p:nvPicPr>
        <p:blipFill>
          <a:blip r:embed="rId2"/>
          <a:srcRect t="-13902" b="-13902"/>
          <a:stretch>
            <a:fillRect/>
          </a:stretch>
        </p:blipFill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7" name="img-border"/>
          <p:cNvSpPr/>
          <p:nvPr/>
        </p:nvSpPr>
        <p:spPr>
          <a:xfrm>
            <a:off x="7112000" y="1524000"/>
            <a:ext cx="4470400" cy="47244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9E3E8"/>
            </a:solidFill>
          </a:ln>
        </p:spPr>
      </p:sp>
      <p:sp>
        <p:nvSpPr>
          <p:cNvPr id="8" name="img-caption"/>
          <p:cNvSpPr txBox="1"/>
          <p:nvPr/>
        </p:nvSpPr>
        <p:spPr>
          <a:xfrm>
            <a:off x="7112000" y="6324600"/>
            <a:ext cx="447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Rentgen tasvirda lamina dura va alveolyar tepalik</a:t>
            </a:r>
            <a:endParaRPr lang="en-US" sz="1200" noProof="1"/>
          </a:p>
        </p:txBody>
      </p:sp>
      <p:sp>
        <p:nvSpPr>
          <p:cNvPr id="9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12 / 15</a:t>
            </a:r>
            <a:endParaRPr lang="en-US" sz="110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PERIODONT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Periodontning funksiyalari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eyJpY29uTmFtZSI6ImZhczphbmNob3IifQ</pptd:icon>
              </p:ext>
            </p:extLst>
          </p:nvPr>
        </p:nvSpPr>
        <p:spPr>
          <a:xfrm>
            <a:off x="8128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88" y="64"/>
                </a:moveTo>
                <a:cubicBezTo>
                  <a:pt x="270" y="64"/>
                  <a:pt x="256" y="78"/>
                  <a:pt x="256" y="96"/>
                </a:cubicBezTo>
                <a:cubicBezTo>
                  <a:pt x="256" y="114"/>
                  <a:pt x="270" y="128"/>
                  <a:pt x="288" y="128"/>
                </a:cubicBezTo>
                <a:cubicBezTo>
                  <a:pt x="306" y="128"/>
                  <a:pt x="320" y="114"/>
                  <a:pt x="320" y="96"/>
                </a:cubicBezTo>
                <a:cubicBezTo>
                  <a:pt x="320" y="78"/>
                  <a:pt x="306" y="64"/>
                  <a:pt x="288" y="64"/>
                </a:cubicBezTo>
                <a:close/>
                <a:moveTo>
                  <a:pt x="192" y="96"/>
                </a:moveTo>
                <a:cubicBezTo>
                  <a:pt x="192" y="43"/>
                  <a:pt x="235" y="0"/>
                  <a:pt x="288" y="0"/>
                </a:cubicBezTo>
                <a:cubicBezTo>
                  <a:pt x="341" y="0"/>
                  <a:pt x="384" y="43"/>
                  <a:pt x="384" y="96"/>
                </a:cubicBezTo>
                <a:cubicBezTo>
                  <a:pt x="384" y="138"/>
                  <a:pt x="357" y="173"/>
                  <a:pt x="320" y="187"/>
                </a:cubicBezTo>
                <a:lnTo>
                  <a:pt x="320" y="444"/>
                </a:lnTo>
                <a:cubicBezTo>
                  <a:pt x="383" y="430"/>
                  <a:pt x="430" y="375"/>
                  <a:pt x="432" y="308"/>
                </a:cubicBezTo>
                <a:lnTo>
                  <a:pt x="416" y="322"/>
                </a:lnTo>
                <a:cubicBezTo>
                  <a:pt x="406" y="331"/>
                  <a:pt x="391" y="330"/>
                  <a:pt x="382" y="320"/>
                </a:cubicBezTo>
                <a:cubicBezTo>
                  <a:pt x="373" y="310"/>
                  <a:pt x="374" y="295"/>
                  <a:pt x="384" y="286"/>
                </a:cubicBezTo>
                <a:lnTo>
                  <a:pt x="448" y="230"/>
                </a:lnTo>
                <a:cubicBezTo>
                  <a:pt x="457" y="222"/>
                  <a:pt x="471" y="222"/>
                  <a:pt x="480" y="230"/>
                </a:cubicBezTo>
                <a:lnTo>
                  <a:pt x="544" y="286"/>
                </a:lnTo>
                <a:cubicBezTo>
                  <a:pt x="554" y="295"/>
                  <a:pt x="555" y="310"/>
                  <a:pt x="546" y="320"/>
                </a:cubicBezTo>
                <a:cubicBezTo>
                  <a:pt x="537" y="330"/>
                  <a:pt x="522" y="331"/>
                  <a:pt x="512" y="322"/>
                </a:cubicBezTo>
                <a:lnTo>
                  <a:pt x="496" y="308"/>
                </a:lnTo>
                <a:cubicBezTo>
                  <a:pt x="494" y="421"/>
                  <a:pt x="402" y="512"/>
                  <a:pt x="288" y="512"/>
                </a:cubicBezTo>
                <a:cubicBezTo>
                  <a:pt x="174" y="512"/>
                  <a:pt x="82" y="421"/>
                  <a:pt x="80" y="308"/>
                </a:cubicBezTo>
                <a:lnTo>
                  <a:pt x="64" y="322"/>
                </a:lnTo>
                <a:cubicBezTo>
                  <a:pt x="54" y="331"/>
                  <a:pt x="39" y="330"/>
                  <a:pt x="30" y="320"/>
                </a:cubicBezTo>
                <a:cubicBezTo>
                  <a:pt x="21" y="310"/>
                  <a:pt x="22" y="295"/>
                  <a:pt x="32" y="286"/>
                </a:cubicBezTo>
                <a:lnTo>
                  <a:pt x="96" y="230"/>
                </a:lnTo>
                <a:cubicBezTo>
                  <a:pt x="105" y="222"/>
                  <a:pt x="119" y="222"/>
                  <a:pt x="128" y="230"/>
                </a:cubicBezTo>
                <a:lnTo>
                  <a:pt x="192" y="286"/>
                </a:lnTo>
                <a:cubicBezTo>
                  <a:pt x="202" y="295"/>
                  <a:pt x="203" y="310"/>
                  <a:pt x="194" y="320"/>
                </a:cubicBezTo>
                <a:cubicBezTo>
                  <a:pt x="185" y="330"/>
                  <a:pt x="170" y="331"/>
                  <a:pt x="160" y="322"/>
                </a:cubicBezTo>
                <a:lnTo>
                  <a:pt x="144" y="308"/>
                </a:lnTo>
                <a:cubicBezTo>
                  <a:pt x="146" y="375"/>
                  <a:pt x="193" y="430"/>
                  <a:pt x="256" y="445"/>
                </a:cubicBezTo>
                <a:lnTo>
                  <a:pt x="256" y="187"/>
                </a:lnTo>
                <a:cubicBezTo>
                  <a:pt x="219" y="173"/>
                  <a:pt x="192" y="138"/>
                  <a:pt x="192" y="96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6" name="f1-head"/>
          <p:cNvSpPr txBox="1"/>
          <p:nvPr/>
        </p:nvSpPr>
        <p:spPr>
          <a:xfrm>
            <a:off x="1422400" y="17526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Tayanch (mexanik)</a:t>
            </a:r>
            <a:endParaRPr lang="en-US" sz="1800" noProof="1"/>
          </a:p>
        </p:txBody>
      </p:sp>
      <p:sp>
        <p:nvSpPr>
          <p:cNvPr id="7" name="f1-desc"/>
          <p:cNvSpPr txBox="1"/>
          <p:nvPr/>
        </p:nvSpPr>
        <p:spPr>
          <a:xfrm>
            <a:off x="1422400" y="21082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Periodontal tolalar chaynash bosimini amortizatsiya qilib suyakka bir tekis taqsimlaydi, tishni alveolada mahkam ushlab turadi va ortiqcha yuklamadan saqlaydi.</a:t>
            </a:r>
            <a:endParaRPr lang="en-US" sz="1500" noProof="1"/>
          </a:p>
        </p:txBody>
      </p:sp>
      <p:sp>
        <p:nvSpPr>
          <p:cNvPr id="8" name="f1-line"/>
          <p:cNvSpPr/>
          <p:nvPr/>
        </p:nvSpPr>
        <p:spPr>
          <a:xfrm>
            <a:off x="812800" y="28702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9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eyJpY29uTmFtZSI6ImZhczpoYW5kIn0</pptd:icon>
              </p:ext>
            </p:extLst>
          </p:nvPr>
        </p:nvSpPr>
        <p:spPr>
          <a:xfrm>
            <a:off x="812800" y="3124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88" y="32"/>
                </a:moveTo>
                <a:cubicBezTo>
                  <a:pt x="288" y="14"/>
                  <a:pt x="274" y="0"/>
                  <a:pt x="256" y="0"/>
                </a:cubicBezTo>
                <a:cubicBezTo>
                  <a:pt x="238" y="0"/>
                  <a:pt x="224" y="14"/>
                  <a:pt x="224" y="32"/>
                </a:cubicBezTo>
                <a:lnTo>
                  <a:pt x="224" y="240"/>
                </a:lnTo>
                <a:cubicBezTo>
                  <a:pt x="224" y="249"/>
                  <a:pt x="217" y="256"/>
                  <a:pt x="208" y="256"/>
                </a:cubicBezTo>
                <a:cubicBezTo>
                  <a:pt x="199" y="256"/>
                  <a:pt x="192" y="249"/>
                  <a:pt x="192" y="240"/>
                </a:cubicBezTo>
                <a:lnTo>
                  <a:pt x="192" y="64"/>
                </a:lnTo>
                <a:cubicBezTo>
                  <a:pt x="192" y="46"/>
                  <a:pt x="178" y="32"/>
                  <a:pt x="160" y="32"/>
                </a:cubicBezTo>
                <a:cubicBezTo>
                  <a:pt x="142" y="32"/>
                  <a:pt x="128" y="46"/>
                  <a:pt x="128" y="64"/>
                </a:cubicBezTo>
                <a:lnTo>
                  <a:pt x="128" y="336"/>
                </a:lnTo>
                <a:cubicBezTo>
                  <a:pt x="128" y="338"/>
                  <a:pt x="128" y="339"/>
                  <a:pt x="128" y="341"/>
                </a:cubicBezTo>
                <a:lnTo>
                  <a:pt x="68" y="283"/>
                </a:lnTo>
                <a:cubicBezTo>
                  <a:pt x="52" y="268"/>
                  <a:pt x="26" y="268"/>
                  <a:pt x="11" y="284"/>
                </a:cubicBezTo>
                <a:cubicBezTo>
                  <a:pt x="-4" y="300"/>
                  <a:pt x="-4" y="326"/>
                  <a:pt x="12" y="341"/>
                </a:cubicBezTo>
                <a:lnTo>
                  <a:pt x="125" y="448"/>
                </a:lnTo>
                <a:cubicBezTo>
                  <a:pt x="168" y="489"/>
                  <a:pt x="225" y="512"/>
                  <a:pt x="285" y="512"/>
                </a:cubicBezTo>
                <a:lnTo>
                  <a:pt x="304" y="512"/>
                </a:lnTo>
                <a:cubicBezTo>
                  <a:pt x="401" y="512"/>
                  <a:pt x="480" y="433"/>
                  <a:pt x="480" y="336"/>
                </a:cubicBezTo>
                <a:lnTo>
                  <a:pt x="480" y="128"/>
                </a:lnTo>
                <a:cubicBezTo>
                  <a:pt x="480" y="110"/>
                  <a:pt x="466" y="96"/>
                  <a:pt x="448" y="96"/>
                </a:cubicBezTo>
                <a:cubicBezTo>
                  <a:pt x="430" y="96"/>
                  <a:pt x="416" y="110"/>
                  <a:pt x="416" y="128"/>
                </a:cubicBezTo>
                <a:lnTo>
                  <a:pt x="416" y="240"/>
                </a:lnTo>
                <a:cubicBezTo>
                  <a:pt x="416" y="249"/>
                  <a:pt x="409" y="256"/>
                  <a:pt x="400" y="256"/>
                </a:cubicBezTo>
                <a:cubicBezTo>
                  <a:pt x="391" y="256"/>
                  <a:pt x="384" y="249"/>
                  <a:pt x="384" y="240"/>
                </a:cubicBezTo>
                <a:lnTo>
                  <a:pt x="384" y="64"/>
                </a:lnTo>
                <a:cubicBezTo>
                  <a:pt x="384" y="46"/>
                  <a:pt x="370" y="32"/>
                  <a:pt x="352" y="32"/>
                </a:cubicBezTo>
                <a:cubicBezTo>
                  <a:pt x="334" y="32"/>
                  <a:pt x="320" y="46"/>
                  <a:pt x="320" y="64"/>
                </a:cubicBezTo>
                <a:lnTo>
                  <a:pt x="320" y="240"/>
                </a:lnTo>
                <a:cubicBezTo>
                  <a:pt x="320" y="249"/>
                  <a:pt x="313" y="256"/>
                  <a:pt x="304" y="256"/>
                </a:cubicBezTo>
                <a:cubicBezTo>
                  <a:pt x="295" y="256"/>
                  <a:pt x="288" y="249"/>
                  <a:pt x="288" y="240"/>
                </a:cubicBezTo>
                <a:lnTo>
                  <a:pt x="288" y="32"/>
                </a:ln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0" name="f2-head"/>
          <p:cNvSpPr txBox="1"/>
          <p:nvPr/>
        </p:nvSpPr>
        <p:spPr>
          <a:xfrm>
            <a:off x="1422400" y="30988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Sensor (sezuvchan)</a:t>
            </a:r>
            <a:endParaRPr lang="en-US" sz="1800" noProof="1"/>
          </a:p>
        </p:txBody>
      </p:sp>
      <p:sp>
        <p:nvSpPr>
          <p:cNvPr id="11" name="f2-desc"/>
          <p:cNvSpPr txBox="1"/>
          <p:nvPr/>
        </p:nvSpPr>
        <p:spPr>
          <a:xfrm>
            <a:off x="1422400" y="34544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Boylamdagi propriotseptorlar bosim, teginish va tish holatini aniq sezib, chaynash kuchini refleks orqali boshqaradi hamda juda qattiq narsani tishlashdan ogohlantiradi.</a:t>
            </a:r>
            <a:endParaRPr lang="en-US" sz="1500" noProof="1"/>
          </a:p>
        </p:txBody>
      </p:sp>
      <p:sp>
        <p:nvSpPr>
          <p:cNvPr id="12" name="f2-line"/>
          <p:cNvSpPr/>
          <p:nvPr/>
        </p:nvSpPr>
        <p:spPr>
          <a:xfrm>
            <a:off x="812800" y="42164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3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eyJpY29uTmFtZSI6ImZhczpoZWFydC1wdWxzZSJ9</pptd:icon>
              </p:ext>
            </p:extLst>
          </p:nvPr>
        </p:nvSpPr>
        <p:spPr>
          <a:xfrm>
            <a:off x="812800" y="4470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108"/>
                </a:moveTo>
                <a:lnTo>
                  <a:pt x="241" y="87"/>
                </a:lnTo>
                <a:cubicBezTo>
                  <a:pt x="216" y="53"/>
                  <a:pt x="176" y="32"/>
                  <a:pt x="133" y="32"/>
                </a:cubicBezTo>
                <a:cubicBezTo>
                  <a:pt x="60" y="32"/>
                  <a:pt x="0" y="92"/>
                  <a:pt x="0" y="165"/>
                </a:cubicBezTo>
                <a:lnTo>
                  <a:pt x="0" y="168"/>
                </a:lnTo>
                <a:cubicBezTo>
                  <a:pt x="0" y="191"/>
                  <a:pt x="6" y="216"/>
                  <a:pt x="17" y="240"/>
                </a:cubicBezTo>
                <a:lnTo>
                  <a:pt x="123" y="240"/>
                </a:lnTo>
                <a:cubicBezTo>
                  <a:pt x="126" y="240"/>
                  <a:pt x="129" y="238"/>
                  <a:pt x="130" y="235"/>
                </a:cubicBezTo>
                <a:lnTo>
                  <a:pt x="162" y="159"/>
                </a:lnTo>
                <a:cubicBezTo>
                  <a:pt x="166" y="150"/>
                  <a:pt x="174" y="144"/>
                  <a:pt x="184" y="144"/>
                </a:cubicBezTo>
                <a:cubicBezTo>
                  <a:pt x="193" y="144"/>
                  <a:pt x="202" y="149"/>
                  <a:pt x="206" y="158"/>
                </a:cubicBezTo>
                <a:lnTo>
                  <a:pt x="257" y="272"/>
                </a:lnTo>
                <a:lnTo>
                  <a:pt x="299" y="189"/>
                </a:lnTo>
                <a:cubicBezTo>
                  <a:pt x="303" y="181"/>
                  <a:pt x="311" y="176"/>
                  <a:pt x="320" y="176"/>
                </a:cubicBezTo>
                <a:cubicBezTo>
                  <a:pt x="329" y="176"/>
                  <a:pt x="337" y="181"/>
                  <a:pt x="342" y="189"/>
                </a:cubicBezTo>
                <a:lnTo>
                  <a:pt x="365" y="236"/>
                </a:lnTo>
                <a:cubicBezTo>
                  <a:pt x="366" y="238"/>
                  <a:pt x="369" y="240"/>
                  <a:pt x="372" y="240"/>
                </a:cubicBezTo>
                <a:lnTo>
                  <a:pt x="496" y="240"/>
                </a:lnTo>
                <a:cubicBezTo>
                  <a:pt x="506" y="216"/>
                  <a:pt x="512" y="191"/>
                  <a:pt x="512" y="168"/>
                </a:cubicBezTo>
                <a:lnTo>
                  <a:pt x="512" y="165"/>
                </a:lnTo>
                <a:cubicBezTo>
                  <a:pt x="512" y="92"/>
                  <a:pt x="452" y="32"/>
                  <a:pt x="379" y="32"/>
                </a:cubicBezTo>
                <a:cubicBezTo>
                  <a:pt x="336" y="32"/>
                  <a:pt x="296" y="53"/>
                  <a:pt x="271" y="87"/>
                </a:cubicBezTo>
                <a:lnTo>
                  <a:pt x="256" y="108"/>
                </a:lnTo>
                <a:close/>
                <a:moveTo>
                  <a:pt x="470" y="288"/>
                </a:moveTo>
                <a:lnTo>
                  <a:pt x="372" y="288"/>
                </a:lnTo>
                <a:cubicBezTo>
                  <a:pt x="351" y="288"/>
                  <a:pt x="331" y="276"/>
                  <a:pt x="322" y="257"/>
                </a:cubicBezTo>
                <a:lnTo>
                  <a:pt x="320" y="254"/>
                </a:lnTo>
                <a:lnTo>
                  <a:pt x="278" y="339"/>
                </a:lnTo>
                <a:cubicBezTo>
                  <a:pt x="273" y="347"/>
                  <a:pt x="265" y="352"/>
                  <a:pt x="256" y="352"/>
                </a:cubicBezTo>
                <a:cubicBezTo>
                  <a:pt x="246" y="352"/>
                  <a:pt x="238" y="346"/>
                  <a:pt x="234" y="338"/>
                </a:cubicBezTo>
                <a:lnTo>
                  <a:pt x="185" y="228"/>
                </a:lnTo>
                <a:lnTo>
                  <a:pt x="174" y="254"/>
                </a:lnTo>
                <a:cubicBezTo>
                  <a:pt x="166" y="274"/>
                  <a:pt x="145" y="288"/>
                  <a:pt x="123" y="288"/>
                </a:cubicBezTo>
                <a:lnTo>
                  <a:pt x="42" y="288"/>
                </a:lnTo>
                <a:cubicBezTo>
                  <a:pt x="90" y="362"/>
                  <a:pt x="165" y="430"/>
                  <a:pt x="213" y="466"/>
                </a:cubicBezTo>
                <a:cubicBezTo>
                  <a:pt x="225" y="475"/>
                  <a:pt x="240" y="480"/>
                  <a:pt x="256" y="480"/>
                </a:cubicBezTo>
                <a:cubicBezTo>
                  <a:pt x="271" y="480"/>
                  <a:pt x="287" y="476"/>
                  <a:pt x="299" y="466"/>
                </a:cubicBezTo>
                <a:cubicBezTo>
                  <a:pt x="347" y="430"/>
                  <a:pt x="422" y="362"/>
                  <a:pt x="470" y="288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4" name="f3-head"/>
          <p:cNvSpPr txBox="1"/>
          <p:nvPr/>
        </p:nvSpPr>
        <p:spPr>
          <a:xfrm>
            <a:off x="1422400" y="44450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Nutritiv (ozuqaviy)</a:t>
            </a:r>
            <a:endParaRPr lang="en-US" sz="1800" noProof="1"/>
          </a:p>
        </p:txBody>
      </p:sp>
      <p:sp>
        <p:nvSpPr>
          <p:cNvPr id="15" name="f3-desc"/>
          <p:cNvSpPr txBox="1"/>
          <p:nvPr/>
        </p:nvSpPr>
        <p:spPr>
          <a:xfrm>
            <a:off x="1422400" y="48006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Qon va limfa tomirlari boylam, sement va alveolyar suyakni oziq moddalar bilan ta'minlaydi, metabolitlarni chiqarib ularning tiriklik va yangilanishini qo'llab-quvvatlaydi.</a:t>
            </a:r>
            <a:endParaRPr lang="en-US" sz="1500" noProof="1"/>
          </a:p>
        </p:txBody>
      </p:sp>
      <p:sp>
        <p:nvSpPr>
          <p:cNvPr id="16" name="f3-line"/>
          <p:cNvSpPr/>
          <p:nvPr/>
        </p:nvSpPr>
        <p:spPr>
          <a:xfrm>
            <a:off x="812800" y="5562600"/>
            <a:ext cx="10566400" cy="12700"/>
          </a:xfrm>
          <a:prstGeom prst="rect">
            <a:avLst/>
          </a:prstGeom>
          <a:solidFill>
            <a:srgbClr val="D9E3E8"/>
          </a:solidFill>
          <a:ln>
            <a:noFill/>
          </a:ln>
        </p:spPr>
      </p:sp>
      <p:sp>
        <p:nvSpPr>
          <p:cNvPr id="17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eyJpY29uTmFtZSI6ImZhczphcnJvd3Mtcm90YXRlIn0</pptd:icon>
              </p:ext>
            </p:extLst>
          </p:nvPr>
        </p:nvSpPr>
        <p:spPr>
          <a:xfrm>
            <a:off x="812800" y="5816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6" y="229"/>
                </a:moveTo>
                <a:cubicBezTo>
                  <a:pt x="79" y="136"/>
                  <a:pt x="159" y="64"/>
                  <a:pt x="256" y="64"/>
                </a:cubicBezTo>
                <a:cubicBezTo>
                  <a:pt x="309" y="64"/>
                  <a:pt x="357" y="86"/>
                  <a:pt x="392" y="120"/>
                </a:cubicBezTo>
                <a:cubicBezTo>
                  <a:pt x="392" y="120"/>
                  <a:pt x="392" y="121"/>
                  <a:pt x="392" y="121"/>
                </a:cubicBezTo>
                <a:lnTo>
                  <a:pt x="400" y="128"/>
                </a:lnTo>
                <a:lnTo>
                  <a:pt x="352" y="128"/>
                </a:lnTo>
                <a:cubicBezTo>
                  <a:pt x="334" y="128"/>
                  <a:pt x="320" y="142"/>
                  <a:pt x="320" y="160"/>
                </a:cubicBezTo>
                <a:cubicBezTo>
                  <a:pt x="320" y="178"/>
                  <a:pt x="334" y="192"/>
                  <a:pt x="352" y="192"/>
                </a:cubicBezTo>
                <a:lnTo>
                  <a:pt x="480" y="192"/>
                </a:lnTo>
                <a:cubicBezTo>
                  <a:pt x="498" y="192"/>
                  <a:pt x="512" y="178"/>
                  <a:pt x="512" y="160"/>
                </a:cubicBezTo>
                <a:lnTo>
                  <a:pt x="512" y="32"/>
                </a:lnTo>
                <a:cubicBezTo>
                  <a:pt x="512" y="14"/>
                  <a:pt x="498" y="0"/>
                  <a:pt x="480" y="0"/>
                </a:cubicBezTo>
                <a:cubicBezTo>
                  <a:pt x="462" y="0"/>
                  <a:pt x="448" y="14"/>
                  <a:pt x="448" y="32"/>
                </a:cubicBezTo>
                <a:lnTo>
                  <a:pt x="448" y="85"/>
                </a:lnTo>
                <a:lnTo>
                  <a:pt x="437" y="75"/>
                </a:lnTo>
                <a:cubicBezTo>
                  <a:pt x="391" y="29"/>
                  <a:pt x="327" y="0"/>
                  <a:pt x="256" y="0"/>
                </a:cubicBezTo>
                <a:cubicBezTo>
                  <a:pt x="127" y="0"/>
                  <a:pt x="20" y="95"/>
                  <a:pt x="3" y="220"/>
                </a:cubicBezTo>
                <a:cubicBezTo>
                  <a:pt x="0" y="237"/>
                  <a:pt x="12" y="253"/>
                  <a:pt x="30" y="256"/>
                </a:cubicBezTo>
                <a:cubicBezTo>
                  <a:pt x="47" y="258"/>
                  <a:pt x="63" y="246"/>
                  <a:pt x="66" y="229"/>
                </a:cubicBezTo>
                <a:close/>
                <a:moveTo>
                  <a:pt x="509" y="293"/>
                </a:moveTo>
                <a:cubicBezTo>
                  <a:pt x="512" y="275"/>
                  <a:pt x="500" y="259"/>
                  <a:pt x="482" y="256"/>
                </a:cubicBezTo>
                <a:cubicBezTo>
                  <a:pt x="465" y="254"/>
                  <a:pt x="449" y="266"/>
                  <a:pt x="446" y="283"/>
                </a:cubicBezTo>
                <a:cubicBezTo>
                  <a:pt x="433" y="376"/>
                  <a:pt x="353" y="448"/>
                  <a:pt x="256" y="448"/>
                </a:cubicBezTo>
                <a:cubicBezTo>
                  <a:pt x="203" y="448"/>
                  <a:pt x="155" y="426"/>
                  <a:pt x="120" y="392"/>
                </a:cubicBezTo>
                <a:cubicBezTo>
                  <a:pt x="120" y="392"/>
                  <a:pt x="120" y="391"/>
                  <a:pt x="120" y="391"/>
                </a:cubicBezTo>
                <a:lnTo>
                  <a:pt x="112" y="384"/>
                </a:lnTo>
                <a:lnTo>
                  <a:pt x="160" y="384"/>
                </a:lnTo>
                <a:cubicBezTo>
                  <a:pt x="178" y="384"/>
                  <a:pt x="192" y="370"/>
                  <a:pt x="192" y="352"/>
                </a:cubicBezTo>
                <a:cubicBezTo>
                  <a:pt x="192" y="334"/>
                  <a:pt x="178" y="320"/>
                  <a:pt x="160" y="320"/>
                </a:cubicBezTo>
                <a:lnTo>
                  <a:pt x="32" y="320"/>
                </a:lnTo>
                <a:cubicBezTo>
                  <a:pt x="24" y="320"/>
                  <a:pt x="15" y="323"/>
                  <a:pt x="9" y="330"/>
                </a:cubicBezTo>
                <a:cubicBezTo>
                  <a:pt x="3" y="336"/>
                  <a:pt x="0" y="344"/>
                  <a:pt x="0" y="352"/>
                </a:cubicBezTo>
                <a:lnTo>
                  <a:pt x="1" y="479"/>
                </a:lnTo>
                <a:cubicBezTo>
                  <a:pt x="1" y="497"/>
                  <a:pt x="16" y="511"/>
                  <a:pt x="33" y="511"/>
                </a:cubicBezTo>
                <a:cubicBezTo>
                  <a:pt x="51" y="511"/>
                  <a:pt x="65" y="496"/>
                  <a:pt x="65" y="479"/>
                </a:cubicBezTo>
                <a:lnTo>
                  <a:pt x="65" y="427"/>
                </a:lnTo>
                <a:lnTo>
                  <a:pt x="75" y="437"/>
                </a:lnTo>
                <a:cubicBezTo>
                  <a:pt x="122" y="483"/>
                  <a:pt x="186" y="512"/>
                  <a:pt x="256" y="512"/>
                </a:cubicBezTo>
                <a:cubicBezTo>
                  <a:pt x="385" y="512"/>
                  <a:pt x="492" y="417"/>
                  <a:pt x="509" y="293"/>
                </a:cubicBezTo>
                <a:close/>
              </a:path>
            </a:pathLst>
          </a:custGeom>
          <a:solidFill>
            <a:srgbClr val="159AA0"/>
          </a:solidFill>
          <a:ln>
            <a:noFill/>
          </a:ln>
        </p:spPr>
      </p:sp>
      <p:sp>
        <p:nvSpPr>
          <p:cNvPr id="18" name="f4-head"/>
          <p:cNvSpPr txBox="1"/>
          <p:nvPr/>
        </p:nvSpPr>
        <p:spPr>
          <a:xfrm>
            <a:off x="1422400" y="5791200"/>
            <a:ext cx="508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B3552"/>
                </a:solidFill>
                <a:latin typeface="Times New Roman"/>
                <a:ea typeface="Times New Roman"/>
              </a:rPr>
              <a:t>Gomeostatik (tartibga soluvchi)</a:t>
            </a:r>
            <a:endParaRPr lang="en-US" sz="1800" noProof="1"/>
          </a:p>
        </p:txBody>
      </p:sp>
      <p:sp>
        <p:nvSpPr>
          <p:cNvPr id="19" name="f4-desc"/>
          <p:cNvSpPr txBox="1"/>
          <p:nvPr/>
        </p:nvSpPr>
        <p:spPr>
          <a:xfrm>
            <a:off x="1422400" y="61468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Suyak va sement hujayralari to'qimalarni uzluksiz yangilab (remodelirovka), tishni funksional yuklamaga moslashtiradi va tish ortodontik harakatlanganda qayta quriladi.</a:t>
            </a:r>
            <a:endParaRPr lang="en-US" sz="1500" noProof="1"/>
          </a:p>
        </p:txBody>
      </p:sp>
      <p:sp>
        <p:nvSpPr>
          <p:cNvPr id="20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13 / 15</a:t>
            </a:r>
            <a:endParaRPr lang="en-US" sz="110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4826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159AA0"/>
                </a:solidFill>
                <a:latin typeface="Times New Roman"/>
                <a:ea typeface="Times New Roman"/>
              </a:rPr>
              <a:t>KLINIK AHAMIYAT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812800" y="7620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 noProof="1">
                <a:solidFill>
                  <a:srgbClr val="0B3552"/>
                </a:solidFill>
                <a:latin typeface="Times New Roman"/>
                <a:ea typeface="Times New Roman"/>
              </a:rPr>
              <a:t>Klinik ahamiyati: pulpit va periodontit</a:t>
            </a:r>
            <a:endParaRPr lang="en-US" sz="3000" noProof="1"/>
          </a:p>
        </p:txBody>
      </p:sp>
      <p:sp>
        <p:nvSpPr>
          <p:cNvPr id="4" name="rule"/>
          <p:cNvSpPr/>
          <p:nvPr/>
        </p:nvSpPr>
        <p:spPr>
          <a:xfrm>
            <a:off x="812800" y="13970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5" name="c1-head"/>
          <p:cNvSpPr txBox="1"/>
          <p:nvPr/>
        </p:nvSpPr>
        <p:spPr>
          <a:xfrm>
            <a:off x="812800" y="1701800"/>
            <a:ext cx="6096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0B3552"/>
                </a:solidFill>
                <a:latin typeface="Times New Roman"/>
                <a:ea typeface="Times New Roman"/>
              </a:rPr>
              <a:t>Pulpit</a:t>
            </a:r>
            <a:endParaRPr lang="en-US" sz="1900" noProof="1"/>
          </a:p>
        </p:txBody>
      </p:sp>
      <p:sp>
        <p:nvSpPr>
          <p:cNvPr id="6" name="c1-rule"/>
          <p:cNvSpPr/>
          <p:nvPr/>
        </p:nvSpPr>
        <p:spPr>
          <a:xfrm>
            <a:off x="812800" y="2082800"/>
            <a:ext cx="457200" cy="254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7" name="c1-body"/>
          <p:cNvSpPr txBox="1"/>
          <p:nvPr/>
        </p:nvSpPr>
        <p:spPr>
          <a:xfrm>
            <a:off x="812800" y="2235200"/>
            <a:ext cx="6096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Chuqur karies yoki jarohat pulpaga yetib borganda uning yallig'lanishi — pulpit kelib chiqadi. Kuchli, o'z-o'zidan paydo bo'luvchi, kechqurun zo'rayadigan og'riq bilan kechadi. Davolanmasa pulpa nekrozi va periapikal asoratga olib keladi; o'z vaqtida endodontik (kanal) davolash talab etiladi.</a:t>
            </a:r>
            <a:endParaRPr lang="en-US" sz="1500" noProof="1"/>
          </a:p>
        </p:txBody>
      </p:sp>
      <p:sp>
        <p:nvSpPr>
          <p:cNvPr id="8" name="c2-head"/>
          <p:cNvSpPr txBox="1"/>
          <p:nvPr/>
        </p:nvSpPr>
        <p:spPr>
          <a:xfrm>
            <a:off x="812800" y="3937000"/>
            <a:ext cx="6096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0B3552"/>
                </a:solidFill>
                <a:latin typeface="Times New Roman"/>
                <a:ea typeface="Times New Roman"/>
              </a:rPr>
              <a:t>Periodontit</a:t>
            </a:r>
            <a:endParaRPr lang="en-US" sz="1900" noProof="1"/>
          </a:p>
        </p:txBody>
      </p:sp>
      <p:sp>
        <p:nvSpPr>
          <p:cNvPr id="9" name="c2-rule"/>
          <p:cNvSpPr/>
          <p:nvPr/>
        </p:nvSpPr>
        <p:spPr>
          <a:xfrm>
            <a:off x="812800" y="4318000"/>
            <a:ext cx="457200" cy="254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10" name="c2-body"/>
          <p:cNvSpPr txBox="1"/>
          <p:nvPr/>
        </p:nvSpPr>
        <p:spPr>
          <a:xfrm>
            <a:off x="812800" y="4470400"/>
            <a:ext cx="60960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500" noProof="1">
                <a:solidFill>
                  <a:srgbClr val="22303A"/>
                </a:solidFill>
                <a:latin typeface="Times New Roman"/>
                <a:ea typeface="Times New Roman"/>
              </a:rPr>
              <a:t>Tish karashi (plak) va tosh ta'sirida avval milk yallig'lanadi (gingivit), so'ng periodontal cho'ntak hosil bo'lib alveolyar suyak rezorbsiyalanadi va tish bo'shashadi. Muntazam og'iz gigiyenasi va professional tozalash — asosiy profilaktika choralari.</a:t>
            </a:r>
            <a:endParaRPr lang="en-US" sz="1500" noProof="1"/>
          </a:p>
        </p:txBody>
      </p:sp>
      <p:pic>
        <p:nvPicPr>
          <p:cNvPr id="11" name="img"/>
          <p:cNvPicPr/>
          <p:nvPr/>
        </p:nvPicPr>
        <p:blipFill>
          <a:blip r:embed="rId2"/>
          <a:srcRect t="-15847" b="-15847"/>
          <a:stretch>
            <a:fillRect/>
          </a:stretch>
        </p:blipFill>
        <p:spPr>
          <a:xfrm>
            <a:off x="7315200" y="1625600"/>
            <a:ext cx="4267200" cy="4318000"/>
          </a:xfrm>
          <a:prstGeom prst="rect">
            <a:avLst/>
          </a:prstGeom>
          <a:ln>
            <a:noFill/>
          </a:ln>
        </p:spPr>
      </p:pic>
      <p:sp>
        <p:nvSpPr>
          <p:cNvPr id="12" name="img-caption"/>
          <p:cNvSpPr txBox="1"/>
          <p:nvPr/>
        </p:nvSpPr>
        <p:spPr>
          <a:xfrm>
            <a:off x="7315200" y="6045200"/>
            <a:ext cx="426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i="1" noProof="1">
                <a:solidFill>
                  <a:srgbClr val="64747F"/>
                </a:solidFill>
                <a:latin typeface="Times New Roman"/>
                <a:ea typeface="Times New Roman"/>
              </a:rPr>
              <a:t>Sog'lom tish va periodontit taqqoslamasi</a:t>
            </a:r>
            <a:endParaRPr lang="en-US" sz="1200" noProof="1"/>
          </a:p>
        </p:txBody>
      </p:sp>
      <p:sp>
        <p:nvSpPr>
          <p:cNvPr id="13" name="pagenum"/>
          <p:cNvSpPr txBox="1"/>
          <p:nvPr/>
        </p:nvSpPr>
        <p:spPr>
          <a:xfrm>
            <a:off x="108712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kern="0" spc="100" noProof="1">
                <a:solidFill>
                  <a:srgbClr val="64747F"/>
                </a:solidFill>
                <a:latin typeface="Times New Roman"/>
                <a:ea typeface="Times New Roman"/>
              </a:rPr>
              <a:t>14 / 15</a:t>
            </a:r>
            <a:endParaRPr lang="en-US" sz="1100" noProof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2E45"/>
            </a:gs>
            <a:gs pos="100000">
              <a:srgbClr val="071B29"/>
            </a:gs>
          </a:gsLst>
          <a:lin ang="6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nal-img"/>
          <p:cNvPicPr/>
          <p:nvPr/>
        </p:nvPicPr>
        <p:blipFill>
          <a:blip r:embed="rId2"/>
          <a:srcRect t="909" b="909"/>
          <a:stretch>
            <a:fillRect/>
          </a:stretch>
        </p:blipFill>
        <p:spPr>
          <a:xfrm>
            <a:off x="6604000" y="0"/>
            <a:ext cx="5588000" cy="6858000"/>
          </a:xfrm>
          <a:prstGeom prst="rect">
            <a:avLst/>
          </a:prstGeom>
          <a:ln>
            <a:noFill/>
          </a:ln>
        </p:spPr>
      </p:pic>
      <p:sp>
        <p:nvSpPr>
          <p:cNvPr id="3" name="final-overlay"/>
          <p:cNvSpPr/>
          <p:nvPr/>
        </p:nvSpPr>
        <p:spPr>
          <a:xfrm>
            <a:off x="6604000" y="0"/>
            <a:ext cx="5588000" cy="6858000"/>
          </a:xfrm>
          <a:prstGeom prst="rect">
            <a:avLst/>
          </a:prstGeom>
          <a:gradFill rotWithShape="1">
            <a:gsLst>
              <a:gs pos="0">
                <a:srgbClr val="0A2E45">
                  <a:alpha val="94902"/>
                </a:srgbClr>
              </a:gs>
              <a:gs pos="45000">
                <a:srgbClr val="0A2E45">
                  <a:alpha val="40000"/>
                </a:srgbClr>
              </a:gs>
              <a:gs pos="100000">
                <a:srgbClr val="0A2E45">
                  <a:alpha val="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kicker"/>
          <p:cNvSpPr txBox="1"/>
          <p:nvPr/>
        </p:nvSpPr>
        <p:spPr>
          <a:xfrm>
            <a:off x="812800" y="12192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50" noProof="1">
                <a:solidFill>
                  <a:srgbClr val="8FD6DA"/>
                </a:solidFill>
                <a:latin typeface="Times New Roman"/>
                <a:ea typeface="Times New Roman"/>
              </a:rPr>
              <a:t>XULOSA</a:t>
            </a:r>
            <a:endParaRPr lang="en-US" sz="1200" noProof="1"/>
          </a:p>
        </p:txBody>
      </p:sp>
      <p:sp>
        <p:nvSpPr>
          <p:cNvPr id="5" name="body"/>
          <p:cNvSpPr txBox="1"/>
          <p:nvPr/>
        </p:nvSpPr>
        <p:spPr>
          <a:xfrm>
            <a:off x="812800" y="1651000"/>
            <a:ext cx="5461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700" b="1" noProof="1">
                <a:solidFill>
                  <a:srgbClr val="E8F1F5"/>
                </a:solidFill>
                <a:latin typeface="Times New Roman"/>
                <a:ea typeface="Times New Roman"/>
              </a:rPr>
              <a:t>Pulpa</a:t>
            </a:r>
            <a:r>
              <a:rPr lang="en-US" sz="1700" noProof="1">
                <a:solidFill>
                  <a:srgbClr val="E8F1F5"/>
                </a:solidFill>
                <a:latin typeface="Times New Roman"/>
                <a:ea typeface="Times New Roman"/>
              </a:rPr>
              <a:t> — tishning ichki hayoti: dentin hosil qiladi, tishni oziqlantiradi, himoya qiladi va sezuvchanligini ta'minlaydi.</a:t>
            </a:r>
            <a:endParaRPr lang="en-US" sz="17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700" b="1" noProof="1">
                <a:solidFill>
                  <a:srgbClr val="E8F1F5"/>
                </a:solidFill>
                <a:latin typeface="Times New Roman"/>
                <a:ea typeface="Times New Roman"/>
              </a:rPr>
              <a:t>Periodont</a:t>
            </a:r>
            <a:r>
              <a:rPr lang="en-US" sz="1700" noProof="1">
                <a:solidFill>
                  <a:srgbClr val="E8F1F5"/>
                </a:solidFill>
                <a:latin typeface="Times New Roman"/>
                <a:ea typeface="Times New Roman"/>
              </a:rPr>
              <a:t> — tishning tashqi tayanchi: tishni alveolada mahkam ushlab turadi va chaynash bosimini taqsimlaydi.</a:t>
            </a:r>
            <a:endParaRPr lang="en-US" sz="1700" noProof="1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 sz="1700" noProof="1">
                <a:solidFill>
                  <a:srgbClr val="E8F1F5"/>
                </a:solidFill>
                <a:latin typeface="Times New Roman"/>
                <a:ea typeface="Times New Roman"/>
              </a:rPr>
              <a:t>Bu ikki tizimning anatomik va funksional birdamligi tishning umri va sog'lig'ining asosi hisoblanadi.</a:t>
            </a:r>
            <a:endParaRPr lang="en-US" sz="1700" noProof="1"/>
          </a:p>
        </p:txBody>
      </p:sp>
      <p:sp>
        <p:nvSpPr>
          <p:cNvPr id="6" name="rule"/>
          <p:cNvSpPr/>
          <p:nvPr/>
        </p:nvSpPr>
        <p:spPr>
          <a:xfrm>
            <a:off x="812800" y="4724400"/>
            <a:ext cx="711200" cy="38100"/>
          </a:xfrm>
          <a:prstGeom prst="rect">
            <a:avLst/>
          </a:prstGeom>
          <a:solidFill>
            <a:srgbClr val="159AA0"/>
          </a:solidFill>
          <a:ln>
            <a:noFill/>
          </a:ln>
        </p:spPr>
      </p:sp>
      <p:sp>
        <p:nvSpPr>
          <p:cNvPr id="7" name="thanks"/>
          <p:cNvSpPr txBox="1"/>
          <p:nvPr/>
        </p:nvSpPr>
        <p:spPr>
          <a:xfrm>
            <a:off x="812800" y="50292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800" b="1" noProof="1">
                <a:solidFill>
                  <a:srgbClr val="8FD6DA"/>
                </a:solidFill>
                <a:latin typeface="Times New Roman"/>
                <a:ea typeface="Times New Roman"/>
              </a:rPr>
              <a:t>E'tiboringiz uchun rahmat!</a:t>
            </a:r>
            <a:endParaRPr lang="en-US" sz="28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1027</Words>
  <Application>Microsoft Office PowerPoint</Application>
  <PresentationFormat>Широкоэкранный</PresentationFormat>
  <Paragraphs>138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MiSans</vt:lpstr>
      <vt:lpstr>Times New Roman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Tish tuzilishi: pulpa va periodont</dc:title>
  <dc:creator>JAXONGIR</dc:creator>
  <cp:lastModifiedBy>profix</cp:lastModifiedBy>
  <cp:revision>1</cp:revision>
  <dcterms:modified xsi:type="dcterms:W3CDTF">2026-10-18T15:10:03Z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